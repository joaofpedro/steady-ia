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86" r:id="rId6"/>
    <p:sldId id="287" r:id="rId7"/>
    <p:sldId id="260" r:id="rId8"/>
    <p:sldId id="261" r:id="rId9"/>
    <p:sldId id="281" r:id="rId10"/>
    <p:sldId id="282" r:id="rId11"/>
    <p:sldId id="262" r:id="rId12"/>
    <p:sldId id="289" r:id="rId13"/>
    <p:sldId id="263" r:id="rId14"/>
    <p:sldId id="264" r:id="rId15"/>
    <p:sldId id="265" r:id="rId16"/>
    <p:sldId id="266" r:id="rId17"/>
    <p:sldId id="267" r:id="rId18"/>
    <p:sldId id="268" r:id="rId19"/>
    <p:sldId id="290" r:id="rId20"/>
    <p:sldId id="269" r:id="rId21"/>
    <p:sldId id="270" r:id="rId22"/>
    <p:sldId id="271" r:id="rId23"/>
    <p:sldId id="272" r:id="rId24"/>
    <p:sldId id="273" r:id="rId25"/>
    <p:sldId id="274" r:id="rId26"/>
    <p:sldId id="283" r:id="rId27"/>
    <p:sldId id="275" r:id="rId28"/>
    <p:sldId id="288" r:id="rId29"/>
    <p:sldId id="276" r:id="rId30"/>
    <p:sldId id="284" r:id="rId31"/>
    <p:sldId id="285" r:id="rId32"/>
    <p:sldId id="277" r:id="rId33"/>
    <p:sldId id="278" r:id="rId34"/>
    <p:sldId id="279" r:id="rId35"/>
    <p:sldId id="28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81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229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554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 Kit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Driven Development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Hakuna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SDD Kit?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modo tradicional de usar IA escala problemas. O SDD Kit é um harness: Guides (feedforward) instruem o agente; Sensors (feedback) detectam desvios.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292608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direto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"Faz um endpoint de login pra mim"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Descrição vaga no chat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IA gera código direto (sem spec)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Dev copia e cola no projeto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Bug → volta pro chat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IA perde contexto → reexplica tudo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Nada registrado: sem spec, sem teste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3657600" cy="292608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 Kit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/feature "Sistema de login com JWT"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Story + critérios de </a:t>
            </a:r>
            <a:r>
              <a:rPr lang="en-US" sz="10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</a:t>
            </a: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→ Gate        [Guide]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Analyze + Blueprint + ADR        → Gate        [Guide]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 BDD (Given/When/Then) → Gate       [Guide]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TDD: RED → GREEN → REFACTOR                [Sensor]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 vs spec + Playbook                             [Sensor]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Sync: spec ↔ código </a:t>
            </a:r>
            <a:r>
              <a:rPr lang="en-US" sz="10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alinhados</a:t>
            </a: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[Sensor]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completo — do setup à manutenção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5032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78308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copie a pasta + /init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Constituição + stack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1234440"/>
            <a:ext cx="1783080" cy="91440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42316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2316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blueprint (existente)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1234440"/>
            <a:ext cx="1783080" cy="91440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38912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riscos + direção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55080" y="1234440"/>
            <a:ext cx="1783080" cy="91440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5508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gates + TDD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3794760" cy="914400"/>
          </a:xfrm>
          <a:prstGeom prst="rect">
            <a:avLst/>
          </a:prstGeom>
          <a:solidFill>
            <a:srgbClr val="FFFBE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 → valida código vs spec + anti-patterns + segurança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434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3566160" cy="91440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70916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/sync → spec ↔ código sempre alinhados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781812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spec e código nunca divergem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muda → /feature ou /spec atualiza spec → /implement gera código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muda (refactor, fix) → /sync atualiza spec ← spec é a fonte de verdade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SDD Kit?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que organiza o desenvolvimento como um harness: Guides instruem o agente antes de agir; Sensors validam o resultado após cada ação.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657600" cy="100584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40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First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linha de código antes 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BDD ser aprovada.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011680"/>
            <a:ext cx="3657600" cy="100584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402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First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9496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cenário BDD gera pelo menos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automatizado.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3657600" cy="100584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4747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First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7160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arquiteturais são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registradas em ADRs.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246120"/>
            <a:ext cx="3657600" cy="1005840"/>
          </a:xfrm>
          <a:prstGeom prst="rect">
            <a:avLst/>
          </a:prstGeom>
          <a:solidFill>
            <a:srgbClr val="FFFBE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747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First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39496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projeto é persistido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consultado antes de agir.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 Kit como Harness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além do modelo é o harness.   Agent = Model + Harness.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657600" cy="100584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40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(Feedforward)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BDD · CONSTITUTION.md · PLAYBOOK.md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blueprint.mermaid · .sdd/memory/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011680"/>
            <a:ext cx="3657600" cy="100584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2402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(Feedback)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9496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TDD · /review · /sync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Linters · type checkers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3657600" cy="100584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747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Guides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7160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sem contexto.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errado na primeira tentativa.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246120"/>
            <a:ext cx="3657600" cy="1005840"/>
          </a:xfrm>
          <a:prstGeom prst="rect">
            <a:avLst/>
          </a:prstGeom>
          <a:solidFill>
            <a:srgbClr val="FFFBE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4747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Sensors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39496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se repetem indefinidamente.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 humana constante.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Sensores — Computacional vs Inferencial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tipos de sensor, naturezas distintas. Computacional garante velocidade; Inferencial garante semântica. Os dois são necessários.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292608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Linters · type checkers · testes TDD · coverage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Determinístico — resultado previsível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Rápido: milissegundos a segundos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Roda em todo commit (pre-commit hook)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Cobre: tipo, sintaxe, complexidade, cobertura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Não detecta problemas semânticos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Não avalia intenção ou qualidade de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3657600" cy="292608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Inferencial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 · /sync · revisão humana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Semântico — LLM como juiz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Detecta overengineering e duplicação lógica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Avalia intenção e coerência arquitetural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Mais lento: segundos a minutos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Não-determinístico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Roda em PR e pós-merge, não em todo commit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Princípios de código — inegociáveis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377440" cy="256032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mais simples 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a spec é a correta.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precisa de um parágrafo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explicar, simplifique.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10596" y="21929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66160" y="1234440"/>
            <a:ext cx="2377440" cy="256032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REFACTOR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2402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Single Responsibility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Open/Closed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Liskov Substitution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Interface Segregation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Dependency Inversion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53399" y="216843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0" y="1234440"/>
            <a:ext cx="2011680" cy="2560320"/>
          </a:xfrm>
          <a:prstGeom prst="rect">
            <a:avLst/>
          </a:prstGeom>
          <a:solidFill>
            <a:srgbClr val="FFFBE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três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vez: escreva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vez: anote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vez: extraia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 &gt; abstração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 limita SOLID  •  SOLID guia o REFACTOR  •  DRY só quando o padrão estabilizou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Instalação — projeto novo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o template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1234440"/>
            <a:ext cx="45720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023360" y="1252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https://github.com/{org}/sdd-kit.git meu-projeto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meu-projeto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no 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1965960"/>
            <a:ext cx="45720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023360" y="1984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900" dirty="0" err="1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meu-projeto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abra no Claude Code, Cursor ou Copilot Chat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76606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a Constituição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2697480"/>
            <a:ext cx="45720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023360" y="2715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Claude Code, Cursor ou Copilot:</a:t>
            </a:r>
            <a:endParaRPr lang="en-US" sz="900" dirty="0"/>
          </a:p>
          <a:p>
            <a:r>
              <a:rPr sz="900" b="0">
                <a:solidFill>
                  <a:srgbClr val="14B8A6"/>
                </a:solidFill>
              </a:rPr>
              <a:t>/init  → entrevista → Constituição</a:t>
            </a:r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Spec (PD)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0" y="3429000"/>
            <a:ext cx="45720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023360" y="3447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/discover → /spec  # PD: problema → decisão → BDD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(EQA)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0" y="4160520"/>
            <a:ext cx="45720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023360" y="4178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Claude Code (EQA): /implement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</a:rPr>
              <a:t>A Constituição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Duas camadas de lei. Uma universal, invariável. Uma específica, gerada no início do projeto.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</a:rPr>
              <a:t>CONSTITUTION.md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750A4"/>
                </a:solidFill>
              </a:rPr>
              <a:t>Lei universal do SDD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• Spec First, TDD, ADR — sempre</a:t>
            </a:r>
          </a:p>
          <a:p>
            <a:r>
              <a:rPr sz="1000" b="0">
                <a:solidFill>
                  <a:srgbClr val="64748B"/>
                </a:solidFill>
              </a:rPr>
              <a:t>• Invariável — não muda por projeto</a:t>
            </a:r>
          </a:p>
          <a:p>
            <a:r>
              <a:rPr sz="1000" b="0">
                <a:solidFill>
                  <a:srgbClr val="64748B"/>
                </a:solidFill>
              </a:rPr>
              <a:t>• Definida pelo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</a:rPr>
              <a:t>PROJECT-CONSTITUTION.md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750A4"/>
                </a:solidFill>
              </a:rPr>
              <a:t>Lei específica deste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031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• Domínio, riscos, técnicas, time</a:t>
            </a:r>
          </a:p>
          <a:p>
            <a:r>
              <a:rPr sz="1000" b="0">
                <a:solidFill>
                  <a:srgbClr val="64748B"/>
                </a:solidFill>
              </a:rPr>
              <a:t>• Emendável — evolui com o projeto</a:t>
            </a:r>
          </a:p>
          <a:p>
            <a:r>
              <a:rPr sz="1000" b="0">
                <a:solidFill>
                  <a:srgbClr val="64748B"/>
                </a:solidFill>
              </a:rPr>
              <a:t>• Gerada pelo /init na fundação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944368"/>
            <a:ext cx="3931920" cy="27432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29535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Gerado por /init — antes do primeiro código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8229600" cy="1508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29184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</a:rPr>
              <a:t>Exemplos de princípios de domínio — específicos e falsificáveis: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4151"/>
                </a:solidFill>
              </a:rPr>
              <a:t>  "Um pedido nunca é deletado — apenas cancelado com razão registrada (auditoria fiscal)"</a:t>
            </a:r>
          </a:p>
          <a:p>
            <a:r>
              <a:rPr sz="1000" b="0">
                <a:solidFill>
                  <a:srgbClr val="374151"/>
                </a:solidFill>
              </a:rPr>
              <a:t>  "Saldo nunca pode ser negativo sem autorização explícita de crédito (fintech)"</a:t>
            </a:r>
          </a:p>
          <a:p>
            <a:r>
              <a:rPr sz="1000" b="0">
                <a:solidFill>
                  <a:srgbClr val="374151"/>
                </a:solidFill>
              </a:rPr>
              <a:t>  "Toda ação do usuário deve ser reversível dentro de 24h (ferramenta interna)"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</a:rPr>
              <a:t>/init — a fundação antes do primeiro código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Entrevista estruturada → Constituição + Memórias + ADR-000. Uma pergunta por vez.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750A4"/>
                </a:solidFill>
              </a:rPr>
              <a:t>7 perguntas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74320" cy="237744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74151"/>
                </a:solidFill>
              </a:rPr>
              <a:t>Identidade: Qual problema resolve? Na voz do usuário.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274320" cy="237744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7510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74151"/>
                </a:solidFill>
              </a:rPr>
              <a:t>Usuários e escala: Persona e volume esperado.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58568"/>
            <a:ext cx="274320" cy="237744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25856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585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74151"/>
                </a:solidFill>
              </a:rPr>
              <a:t>Domínio: 3-5 entidades centrais de negócio.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42032"/>
            <a:ext cx="274320" cy="237744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54203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4203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74151"/>
                </a:solidFill>
              </a:rPr>
              <a:t>Tipo e horizonte: MVP, produto, API, migração?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25496"/>
            <a:ext cx="274320" cy="237744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82549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2549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74151"/>
                </a:solidFill>
              </a:rPr>
              <a:t>Riscos e restrições: Segurança, compliance, performance.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274320" cy="237744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10896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74151"/>
                </a:solidFill>
              </a:rPr>
              <a:t>Integrações: Pagamento, auth, ERP, filas.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92424"/>
            <a:ext cx="274320" cy="237744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242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924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74151"/>
                </a:solidFill>
              </a:rPr>
              <a:t>Time: Tamanho e experiência no domínio.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750A4"/>
                </a:solidFill>
              </a:rPr>
              <a:t>O que /init gera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1691640"/>
            <a:ext cx="3840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171907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750A4"/>
                </a:solidFill>
              </a:rPr>
              <a:t>✅  PROJECT-CONSTITUTION.md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194767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Lei do domínio, mandatos de qualidade, técnicas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212848"/>
            <a:ext cx="3840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83480" y="2240279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766E"/>
                </a:solidFill>
              </a:rPr>
              <a:t>✅  memory/PROJECT.md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24688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Contexto, glossário de domínio, convenções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734056"/>
            <a:ext cx="3840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2761487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766E"/>
                </a:solidFill>
              </a:rPr>
              <a:t>✅  memory/DOMAIN.md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990087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Entidades, relacionamentos, fronteiras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3255263"/>
            <a:ext cx="3840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83480" y="3282695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563EB"/>
                </a:solidFill>
              </a:rPr>
              <a:t>✅  ADR-000-foundation.md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351129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Stack + padrões + decisões iniciais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776472"/>
            <a:ext cx="3840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3480" y="3803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✅  config.json calibrado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403250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Extensions e MCPs ativados pelos riscos reais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59943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750A4"/>
                </a:solidFill>
              </a:rPr>
              <a:t>copie sdd-kit/   →   /init (entrevista)   →   /discover (PD)   →   /spec (PD)   →   /implement (EQA)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Instalação — projeto existente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projetos que já têm código, o framework detecta a stack e analisa a arquitetura.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1856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518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o sdd-kit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538152"/>
            <a:ext cx="45720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4023360" y="1556440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.../</a:t>
            </a:r>
            <a:r>
              <a:rPr lang="en-US" sz="950" dirty="0" err="1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sdd</a:t>
            </a: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-kit
cd </a:t>
            </a:r>
            <a:r>
              <a:rPr lang="en-US" sz="950" dirty="0" err="1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sdd</a:t>
            </a: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-kit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2958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229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no IDE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315392"/>
            <a:ext cx="45720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023360" y="23336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seu-projeto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abra no Claude Code, Cursor ou Copilot Chat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073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31520" y="307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(IA)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364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092632"/>
            <a:ext cx="45720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023360" y="3110920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/onboard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Gera blueprint, domínio, ADR-000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8502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1520" y="385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trabalhar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0" y="3869872"/>
            <a:ext cx="45720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5" name="Text 23"/>
          <p:cNvSpPr/>
          <p:nvPr/>
        </p:nvSpPr>
        <p:spPr>
          <a:xfrm>
            <a:off x="4023360" y="3904488"/>
            <a:ext cx="4206240" cy="32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(PD) /spec ou /plan  →  (EQA) /implement</a:t>
            </a:r>
            <a:endParaRPr lang="en-US" sz="95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2814C986-A363-DA04-BF83-F858D7A79222}"/>
              </a:ext>
            </a:extLst>
          </p:cNvPr>
          <p:cNvSpPr/>
          <p:nvPr/>
        </p:nvSpPr>
        <p:spPr>
          <a:xfrm>
            <a:off x="1030877" y="4546201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já tem rules, BDD ou ADRs? → veja slide seguinte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/onboard detecta conflitos e propõe equivalência antes de avançar.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58000"/>
            <a:ext cx="758952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Projeto com framework existente — adoção sem conflito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40000"/>
            <a:ext cx="76809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Additive first: o SDD Kit se encaixa no que existe. Nada é deletado sem decisão explícita documentada em ADR.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0000"/>
            <a:ext cx="7680960" cy="260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1742" y="1010000"/>
            <a:ext cx="21505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888888"/>
                </a:solidFill>
              </a:rPr>
              <a:t>O </a:t>
            </a:r>
            <a:r>
              <a:rPr sz="1100" b="1" dirty="0" err="1">
                <a:solidFill>
                  <a:srgbClr val="888888"/>
                </a:solidFill>
              </a:rPr>
              <a:t>que</a:t>
            </a:r>
            <a:r>
              <a:rPr sz="1100" b="1" dirty="0">
                <a:solidFill>
                  <a:srgbClr val="888888"/>
                </a:solidFill>
              </a:rPr>
              <a:t> </a:t>
            </a:r>
            <a:r>
              <a:rPr sz="1100" b="1" dirty="0" err="1">
                <a:solidFill>
                  <a:srgbClr val="888888"/>
                </a:solidFill>
              </a:rPr>
              <a:t>pode</a:t>
            </a:r>
            <a:r>
              <a:rPr sz="1100" b="1" dirty="0">
                <a:solidFill>
                  <a:srgbClr val="888888"/>
                </a:solidFill>
              </a:rPr>
              <a:t> </a:t>
            </a:r>
            <a:r>
              <a:rPr sz="1100" b="1" dirty="0" err="1">
                <a:solidFill>
                  <a:srgbClr val="888888"/>
                </a:solidFill>
              </a:rPr>
              <a:t>existir</a:t>
            </a:r>
            <a:r>
              <a:rPr sz="1100" b="1" dirty="0">
                <a:solidFill>
                  <a:srgbClr val="888888"/>
                </a:solidFill>
              </a:rPr>
              <a:t> no </a:t>
            </a:r>
            <a:r>
              <a:rPr sz="1100" b="1" dirty="0" err="1">
                <a:solidFill>
                  <a:srgbClr val="888888"/>
                </a:solidFill>
              </a:rPr>
              <a:t>projeto</a:t>
            </a:r>
            <a:endParaRPr sz="1100" b="1" dirty="0">
              <a:solidFill>
                <a:srgbClr val="88888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68912" y="1010000"/>
            <a:ext cx="24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</a:rPr>
              <a:t>Equivalência no SDD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5488" y="1010000"/>
            <a:ext cx="2893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 err="1">
                <a:solidFill>
                  <a:srgbClr val="888888"/>
                </a:solidFill>
              </a:rPr>
              <a:t>Ação</a:t>
            </a:r>
            <a:r>
              <a:rPr sz="1100" b="1" dirty="0">
                <a:solidFill>
                  <a:srgbClr val="888888"/>
                </a:solidFill>
              </a:rPr>
              <a:t> </a:t>
            </a:r>
            <a:r>
              <a:rPr sz="1100" b="1" dirty="0" err="1">
                <a:solidFill>
                  <a:srgbClr val="888888"/>
                </a:solidFill>
              </a:rPr>
              <a:t>recomendada</a:t>
            </a:r>
            <a:endParaRPr sz="1100" b="1" dirty="0">
              <a:solidFill>
                <a:srgbClr val="88888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227" y="1286898"/>
            <a:ext cx="7951253" cy="721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5943" y="1280000"/>
            <a:ext cx="499001" cy="721000"/>
          </a:xfrm>
          <a:prstGeom prst="rect">
            <a:avLst/>
          </a:prstGeom>
          <a:solidFill>
            <a:srgbClr val="3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5344" y="1465805"/>
            <a:ext cx="4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CE9178"/>
                </a:solidFill>
              </a:rPr>
              <a:t>AI
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742" y="1335000"/>
            <a:ext cx="2150594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.</a:t>
            </a:r>
            <a:r>
              <a:rPr sz="1100" b="0" dirty="0" err="1">
                <a:solidFill>
                  <a:srgbClr val="CCCCCC"/>
                </a:solidFill>
              </a:rPr>
              <a:t>cursorrules</a:t>
            </a:r>
            <a:r>
              <a:rPr sz="1100" b="0" dirty="0">
                <a:solidFill>
                  <a:srgbClr val="CCCCCC"/>
                </a:solidFill>
              </a:rPr>
              <a:t> · Cursor MDC
</a:t>
            </a:r>
            <a:r>
              <a:rPr sz="1100" b="0" dirty="0" err="1">
                <a:solidFill>
                  <a:srgbClr val="CCCCCC"/>
                </a:solidFill>
              </a:rPr>
              <a:t>CLAUDE.md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próprio</a:t>
            </a:r>
            <a:r>
              <a:rPr sz="1100" b="0" dirty="0">
                <a:solidFill>
                  <a:srgbClr val="CCCCCC"/>
                </a:solidFill>
              </a:rPr>
              <a:t>
copilot-instructions </a:t>
            </a:r>
            <a:r>
              <a:rPr sz="1100" b="0" dirty="0" err="1">
                <a:solidFill>
                  <a:srgbClr val="CCCCCC"/>
                </a:solidFill>
              </a:rPr>
              <a:t>próprio</a:t>
            </a:r>
            <a:endParaRPr sz="1100" b="0" dirty="0">
              <a:solidFill>
                <a:srgbClr val="CCCCC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68912" y="1335000"/>
            <a:ext cx="245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E9178"/>
                </a:solidFill>
              </a:rPr>
              <a:t>.cursor/rules/*.mdc
CLAUDE.md (base SDD Kit)
.github/instructions/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5488" y="1335000"/>
            <a:ext cx="276555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Merge: SDD Kit </a:t>
            </a:r>
            <a:r>
              <a:rPr sz="1100" b="0" dirty="0" err="1">
                <a:solidFill>
                  <a:srgbClr val="CCCCCC"/>
                </a:solidFill>
              </a:rPr>
              <a:t>como</a:t>
            </a:r>
            <a:r>
              <a:rPr sz="1100" b="0" dirty="0">
                <a:solidFill>
                  <a:srgbClr val="CCCCCC"/>
                </a:solidFill>
              </a:rPr>
              <a:t> base</a:t>
            </a:r>
            <a:r>
              <a:rPr lang="pt-BR" sz="1100" b="0" dirty="0">
                <a:solidFill>
                  <a:srgbClr val="CCCCCC"/>
                </a:solidFill>
              </a:rPr>
              <a:t> </a:t>
            </a:r>
            <a:r>
              <a:rPr sz="1100" b="0" dirty="0">
                <a:solidFill>
                  <a:srgbClr val="CCCCCC"/>
                </a:solidFill>
              </a:rPr>
              <a:t>+ </a:t>
            </a:r>
            <a:r>
              <a:rPr sz="1100" b="0" dirty="0" err="1">
                <a:solidFill>
                  <a:srgbClr val="CCCCCC"/>
                </a:solidFill>
              </a:rPr>
              <a:t>regras</a:t>
            </a:r>
            <a:r>
              <a:rPr sz="1100" b="0" dirty="0">
                <a:solidFill>
                  <a:srgbClr val="CCCCCC"/>
                </a:solidFill>
              </a:rPr>
              <a:t> do time </a:t>
            </a:r>
            <a:r>
              <a:rPr sz="1100" b="0" dirty="0" err="1">
                <a:solidFill>
                  <a:srgbClr val="CCCCCC"/>
                </a:solidFill>
              </a:rPr>
              <a:t>preservadas</a:t>
            </a:r>
            <a:r>
              <a:rPr sz="1100" b="0" dirty="0">
                <a:solidFill>
                  <a:srgbClr val="CCCCCC"/>
                </a:solidFill>
              </a:rPr>
              <a:t>.</a:t>
            </a:r>
            <a:endParaRPr lang="pt-BR" sz="1100" b="0" dirty="0">
              <a:solidFill>
                <a:srgbClr val="CCCCCC"/>
              </a:solidFill>
            </a:endParaRPr>
          </a:p>
          <a:p>
            <a:pPr algn="l"/>
            <a:r>
              <a:rPr sz="1100" b="0" dirty="0">
                <a:solidFill>
                  <a:srgbClr val="CCCCCC"/>
                </a:solidFill>
              </a:rPr>
              <a:t>Delete </a:t>
            </a:r>
            <a:r>
              <a:rPr sz="1100" b="0" dirty="0" err="1">
                <a:solidFill>
                  <a:srgbClr val="CCCCCC"/>
                </a:solidFill>
              </a:rPr>
              <a:t>antigo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após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validação</a:t>
            </a:r>
            <a:r>
              <a:rPr sz="1100" b="0" dirty="0">
                <a:solidFill>
                  <a:srgbClr val="CCCCCC"/>
                </a:solidFill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28000"/>
            <a:ext cx="8046720" cy="721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5943" y="2028000"/>
            <a:ext cx="499001" cy="721000"/>
          </a:xfrm>
          <a:prstGeom prst="rect">
            <a:avLst/>
          </a:prstGeom>
          <a:solidFill>
            <a:srgbClr val="10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5942" y="2199121"/>
            <a:ext cx="490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569CD6"/>
                </a:solidFill>
              </a:rPr>
              <a:t>BDD
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742" y="2083000"/>
            <a:ext cx="2150594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Cucumber · feature files
</a:t>
            </a:r>
            <a:r>
              <a:rPr sz="1100" b="0" dirty="0" err="1">
                <a:solidFill>
                  <a:srgbClr val="CCCCCC"/>
                </a:solidFill>
              </a:rPr>
              <a:t>SpecFlow</a:t>
            </a:r>
            <a:r>
              <a:rPr sz="1100" b="0" dirty="0">
                <a:solidFill>
                  <a:srgbClr val="CCCCCC"/>
                </a:solidFill>
              </a:rPr>
              <a:t> · Behave
Spec custom </a:t>
            </a:r>
            <a:r>
              <a:rPr sz="1100" b="0" dirty="0" err="1">
                <a:solidFill>
                  <a:srgbClr val="CCCCCC"/>
                </a:solidFill>
              </a:rPr>
              <a:t>em</a:t>
            </a:r>
            <a:r>
              <a:rPr sz="1100" b="0" dirty="0">
                <a:solidFill>
                  <a:srgbClr val="CCCCCC"/>
                </a:solidFill>
              </a:rPr>
              <a:t> docs/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8912" y="2083000"/>
            <a:ext cx="245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9CD6"/>
                </a:solidFill>
              </a:rPr>
              <a:t>specs/{id}/spec.bdd.md
(mesmo Gherkin, nova estrutura)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5488" y="2083000"/>
            <a:ext cx="27655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Mova para specs/ </a:t>
            </a:r>
            <a:r>
              <a:rPr sz="1100" b="0" dirty="0" err="1">
                <a:solidFill>
                  <a:srgbClr val="CCCCCC"/>
                </a:solidFill>
              </a:rPr>
              <a:t>mantendo</a:t>
            </a:r>
            <a:r>
              <a:rPr lang="pt-BR" sz="1100" dirty="0">
                <a:solidFill>
                  <a:srgbClr val="CCCCCC"/>
                </a:solidFill>
              </a:rPr>
              <a:t> </a:t>
            </a:r>
            <a:r>
              <a:rPr sz="1100" b="0" dirty="0">
                <a:solidFill>
                  <a:srgbClr val="CCCCCC"/>
                </a:solidFill>
              </a:rPr>
              <a:t>o </a:t>
            </a:r>
            <a:r>
              <a:rPr sz="1100" b="0" dirty="0" err="1">
                <a:solidFill>
                  <a:srgbClr val="CCCCCC"/>
                </a:solidFill>
              </a:rPr>
              <a:t>conteúdo</a:t>
            </a:r>
            <a:r>
              <a:rPr sz="1100" b="0" dirty="0">
                <a:solidFill>
                  <a:srgbClr val="CCCCCC"/>
                </a:solidFill>
              </a:rPr>
              <a:t>. /sync </a:t>
            </a:r>
            <a:r>
              <a:rPr sz="1100" b="0" dirty="0" err="1">
                <a:solidFill>
                  <a:srgbClr val="CCCCCC"/>
                </a:solidFill>
              </a:rPr>
              <a:t>valida</a:t>
            </a:r>
            <a:r>
              <a:rPr lang="pt-BR" sz="110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alinhamento</a:t>
            </a:r>
            <a:r>
              <a:rPr sz="1100" b="0" dirty="0">
                <a:solidFill>
                  <a:srgbClr val="CCCCCC"/>
                </a:solidFill>
              </a:rPr>
              <a:t> com o </a:t>
            </a:r>
            <a:r>
              <a:rPr sz="1100" b="0" dirty="0" err="1">
                <a:solidFill>
                  <a:srgbClr val="CCCCCC"/>
                </a:solidFill>
              </a:rPr>
              <a:t>código</a:t>
            </a:r>
            <a:r>
              <a:rPr sz="1100" b="0" dirty="0">
                <a:solidFill>
                  <a:srgbClr val="CCCCCC"/>
                </a:solidFill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76000"/>
            <a:ext cx="8046720" cy="721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5943" y="2776000"/>
            <a:ext cx="499001" cy="721000"/>
          </a:xfrm>
          <a:prstGeom prst="rect">
            <a:avLst/>
          </a:prstGeom>
          <a:solidFill>
            <a:srgbClr val="2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5942" y="2967223"/>
            <a:ext cx="490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C586C0"/>
                </a:solidFill>
              </a:rPr>
              <a:t>ADR
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831000"/>
            <a:ext cx="2209376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ADRs </a:t>
            </a:r>
            <a:r>
              <a:rPr sz="1100" b="0" dirty="0" err="1">
                <a:solidFill>
                  <a:srgbClr val="CCCCCC"/>
                </a:solidFill>
              </a:rPr>
              <a:t>em</a:t>
            </a:r>
            <a:r>
              <a:rPr sz="1100" b="0" dirty="0">
                <a:solidFill>
                  <a:srgbClr val="CCCCCC"/>
                </a:solidFill>
              </a:rPr>
              <a:t> wiki · Confluence
Markdown </a:t>
            </a:r>
            <a:r>
              <a:rPr sz="1100" b="0" dirty="0" err="1">
                <a:solidFill>
                  <a:srgbClr val="CCCCCC"/>
                </a:solidFill>
              </a:rPr>
              <a:t>em</a:t>
            </a:r>
            <a:r>
              <a:rPr sz="1100" b="0" dirty="0">
                <a:solidFill>
                  <a:srgbClr val="CCCCCC"/>
                </a:solidFill>
              </a:rPr>
              <a:t> outro </a:t>
            </a:r>
            <a:r>
              <a:rPr sz="1100" b="0" dirty="0" err="1">
                <a:solidFill>
                  <a:srgbClr val="CCCCCC"/>
                </a:solidFill>
              </a:rPr>
              <a:t>formato</a:t>
            </a:r>
            <a:r>
              <a:rPr sz="1100" b="0" dirty="0">
                <a:solidFill>
                  <a:srgbClr val="CCCCCC"/>
                </a:solidFill>
              </a:rPr>
              <a:t>
</a:t>
            </a:r>
            <a:r>
              <a:rPr sz="1100" b="0" dirty="0" err="1">
                <a:solidFill>
                  <a:srgbClr val="CCCCCC"/>
                </a:solidFill>
              </a:rPr>
              <a:t>Decisões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não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documentadas</a:t>
            </a:r>
            <a:endParaRPr sz="1100" b="0" dirty="0">
              <a:solidFill>
                <a:srgbClr val="CCCCCC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68912" y="2831000"/>
            <a:ext cx="245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86C0"/>
                </a:solidFill>
              </a:rPr>
              <a:t>docs/adr/ADR-*.md
.sdd/memory/DECISIONS.md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5488" y="2831000"/>
            <a:ext cx="2665948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Importe ou referencie.
ADR-000 documenta o estado
atual como ponto de partida.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524000"/>
            <a:ext cx="8046720" cy="721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5943" y="3524000"/>
            <a:ext cx="499001" cy="721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1474" y="3715223"/>
            <a:ext cx="526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4EC9B0"/>
                </a:solidFill>
              </a:rPr>
              <a:t>H</a:t>
            </a:r>
            <a:r>
              <a:rPr lang="pt-BR" sz="800" b="1" dirty="0">
                <a:solidFill>
                  <a:srgbClr val="4EC9B0"/>
                </a:solidFill>
              </a:rPr>
              <a:t>O</a:t>
            </a:r>
            <a:r>
              <a:rPr sz="800" b="1" dirty="0">
                <a:solidFill>
                  <a:srgbClr val="4EC9B0"/>
                </a:solidFill>
              </a:rPr>
              <a:t>OKS
CI/CD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579000"/>
            <a:ext cx="2209376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Husky · lint-staged
git hooks </a:t>
            </a:r>
            <a:r>
              <a:rPr sz="1100" b="0" dirty="0" err="1">
                <a:solidFill>
                  <a:srgbClr val="CCCCCC"/>
                </a:solidFill>
              </a:rPr>
              <a:t>próprios</a:t>
            </a:r>
            <a:r>
              <a:rPr sz="1100" b="0" dirty="0">
                <a:solidFill>
                  <a:srgbClr val="CCCCCC"/>
                </a:solidFill>
              </a:rPr>
              <a:t>
GitHub Actions / scripts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8912" y="3579000"/>
            <a:ext cx="245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</a:rPr>
              <a:t>.sdd/hooks/ (git hooks)
.claude/hooks/ (IA hooks)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5488" y="3579000"/>
            <a:ext cx="2665948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</a:rPr>
              <a:t>Complemente</a:t>
            </a:r>
            <a:r>
              <a:rPr sz="1100" b="0" dirty="0">
                <a:solidFill>
                  <a:srgbClr val="CCCCCC"/>
                </a:solidFill>
              </a:rPr>
              <a:t>, </a:t>
            </a:r>
            <a:r>
              <a:rPr sz="1100" b="0" dirty="0" err="1">
                <a:solidFill>
                  <a:srgbClr val="CCCCCC"/>
                </a:solidFill>
              </a:rPr>
              <a:t>não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substitua</a:t>
            </a:r>
            <a:r>
              <a:rPr sz="1100" b="0" dirty="0">
                <a:solidFill>
                  <a:srgbClr val="CCCCCC"/>
                </a:solidFill>
              </a:rPr>
              <a:t>.
</a:t>
            </a:r>
            <a:r>
              <a:rPr sz="1100" b="0" dirty="0" err="1">
                <a:solidFill>
                  <a:srgbClr val="CCCCCC"/>
                </a:solidFill>
              </a:rPr>
              <a:t>Adicione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os</a:t>
            </a:r>
            <a:r>
              <a:rPr sz="1100" b="0" dirty="0">
                <a:solidFill>
                  <a:srgbClr val="CCCCCC"/>
                </a:solidFill>
              </a:rPr>
              <a:t> checks de</a:t>
            </a:r>
            <a:r>
              <a:rPr lang="pt-BR"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segurança</a:t>
            </a:r>
            <a:r>
              <a:rPr sz="1100" b="0" dirty="0">
                <a:solidFill>
                  <a:srgbClr val="CCCCCC"/>
                </a:solidFill>
              </a:rPr>
              <a:t> SDD Kit </a:t>
            </a:r>
            <a:r>
              <a:rPr sz="1100" b="0" dirty="0" err="1">
                <a:solidFill>
                  <a:srgbClr val="CCCCCC"/>
                </a:solidFill>
              </a:rPr>
              <a:t>ao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fluxo</a:t>
            </a:r>
            <a:r>
              <a:rPr sz="1100" b="0" dirty="0">
                <a:solidFill>
                  <a:srgbClr val="CCCCCC"/>
                </a:solidFill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308000"/>
            <a:ext cx="7680960" cy="5154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348000"/>
            <a:ext cx="7498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EC9B0"/>
                </a:solidFill>
              </a:rPr>
              <a:t>/onboard </a:t>
            </a:r>
            <a:r>
              <a:rPr sz="1200" b="0" dirty="0" err="1">
                <a:solidFill>
                  <a:srgbClr val="4EC9B0"/>
                </a:solidFill>
              </a:rPr>
              <a:t>detecta</a:t>
            </a:r>
            <a:r>
              <a:rPr sz="1200" b="0" dirty="0">
                <a:solidFill>
                  <a:srgbClr val="4EC9B0"/>
                </a:solidFill>
              </a:rPr>
              <a:t> </a:t>
            </a:r>
            <a:r>
              <a:rPr sz="1200" b="0" dirty="0" err="1">
                <a:solidFill>
                  <a:srgbClr val="4EC9B0"/>
                </a:solidFill>
              </a:rPr>
              <a:t>automaticamente</a:t>
            </a:r>
            <a:r>
              <a:rPr sz="1200" b="0" dirty="0">
                <a:solidFill>
                  <a:srgbClr val="4EC9B0"/>
                </a:solidFill>
              </a:rPr>
              <a:t> o </a:t>
            </a:r>
            <a:r>
              <a:rPr sz="1200" b="0" dirty="0" err="1">
                <a:solidFill>
                  <a:srgbClr val="4EC9B0"/>
                </a:solidFill>
              </a:rPr>
              <a:t>que</a:t>
            </a:r>
            <a:r>
              <a:rPr sz="1200" b="0" dirty="0">
                <a:solidFill>
                  <a:srgbClr val="4EC9B0"/>
                </a:solidFill>
              </a:rPr>
              <a:t> </a:t>
            </a:r>
            <a:r>
              <a:rPr sz="1200" b="0" dirty="0" err="1">
                <a:solidFill>
                  <a:srgbClr val="4EC9B0"/>
                </a:solidFill>
              </a:rPr>
              <a:t>existe</a:t>
            </a:r>
            <a:r>
              <a:rPr sz="1200" b="0" dirty="0">
                <a:solidFill>
                  <a:srgbClr val="4EC9B0"/>
                </a:solidFill>
              </a:rPr>
              <a:t> e </a:t>
            </a:r>
            <a:r>
              <a:rPr sz="1200" b="0" dirty="0" err="1">
                <a:solidFill>
                  <a:srgbClr val="4EC9B0"/>
                </a:solidFill>
              </a:rPr>
              <a:t>propõe</a:t>
            </a:r>
            <a:r>
              <a:rPr sz="1200" b="0" dirty="0">
                <a:solidFill>
                  <a:srgbClr val="4EC9B0"/>
                </a:solidFill>
              </a:rPr>
              <a:t> a </a:t>
            </a:r>
            <a:r>
              <a:rPr sz="1200" b="0" dirty="0" err="1">
                <a:solidFill>
                  <a:srgbClr val="4EC9B0"/>
                </a:solidFill>
              </a:rPr>
              <a:t>equivalência</a:t>
            </a:r>
            <a:r>
              <a:rPr sz="1200" b="0" dirty="0">
                <a:solidFill>
                  <a:srgbClr val="4EC9B0"/>
                </a:solidFill>
              </a:rPr>
              <a:t> antes de </a:t>
            </a:r>
            <a:r>
              <a:rPr sz="1200" b="0" dirty="0" err="1">
                <a:solidFill>
                  <a:srgbClr val="4EC9B0"/>
                </a:solidFill>
              </a:rPr>
              <a:t>qualquer</a:t>
            </a:r>
            <a:r>
              <a:rPr sz="1200" b="0" dirty="0">
                <a:solidFill>
                  <a:srgbClr val="4EC9B0"/>
                </a:solidFill>
              </a:rPr>
              <a:t> merge — com gate de </a:t>
            </a:r>
            <a:r>
              <a:rPr sz="1200" b="0" dirty="0" err="1">
                <a:solidFill>
                  <a:srgbClr val="4EC9B0"/>
                </a:solidFill>
              </a:rPr>
              <a:t>validação</a:t>
            </a:r>
            <a:r>
              <a:rPr sz="1200" b="0" dirty="0">
                <a:solidFill>
                  <a:srgbClr val="4EC9B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Scanner — embutido em /onboard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automaticamente a stack do projeto e gera convenções específicas.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65760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lê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/ requirements.txt / pom.xml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tsconfig.json / pyproject.toml / go.mod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files (pnpm, yarn, poetry, uv)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e devDependencies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3657600" cy="155448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detecta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(TS, Python, Java, Go, Rust...)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(Next.js, FastAPI, Spring Boot...)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(Jest, Vitest, pytest, JUnit...)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Banco, ORM, UI Library, Package manager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(pnpm workspace, nx, turbo)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494315"/>
            <a:ext cx="7680960" cy="149406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35269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.sdd/STACK.md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750675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detectada: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Linguagem:   typescript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Framework:   Next.js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 runner: Vitest, Playwright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ORM:         Prisma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UI:          Tailwind CSS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Convenções por linguagem + patterns do framework + padrões de teste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— /onboard  (projeto existente)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projetos com código existente. Infere do código e gera os artefatos. Para projetos novos: use /init.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0" cy="100584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116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PROJECT.md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real: o que faz,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quem, glossário 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783080"/>
            <a:ext cx="3840480" cy="100584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0116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C4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7784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módulos, conexões,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externas.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017520"/>
            <a:ext cx="3840480" cy="1005840"/>
          </a:xfrm>
          <a:prstGeom prst="rect">
            <a:avLst/>
          </a:prstGeom>
          <a:solidFill>
            <a:srgbClr val="FFFBE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2461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ADR-000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7160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do ponto de partida: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em uso, decisões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implícitas no código.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37760" y="3017520"/>
            <a:ext cx="3840480" cy="100584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2461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DOMAIN.md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7784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fluxos principais,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externas 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artefato tem um gate — o usuário valida antes de avançar para o próximo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 comando?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são instruções que o assistente de IA segue. Cada um define contexto, passos e artefatos.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377440" cy="137160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em linguagem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+ contexto 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(.sdd/)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41617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0" y="1920240"/>
            <a:ext cx="2377440" cy="137160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Processamento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segue o passo-a-passo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gates de validação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lê STACK.md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3823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182880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salvos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specs/ 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executar /feature no Claude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/feature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"Preciso de um endpoint de login com email/senha que retorne JWT"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uma feature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comando /feature conduz o fluxo completo. Cada fase produz artefatos e para para validação.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645920" cy="82296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26080" y="1783080"/>
            <a:ext cx="1645920" cy="82296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926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 + .mermaid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1783080"/>
            <a:ext cx="1645920" cy="82296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BDD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spec.bdd.md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0" y="1783080"/>
            <a:ext cx="1645920" cy="82296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31520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RED→GREEN→REF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1645920" cy="77724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corretos?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2926080"/>
            <a:ext cx="1645920" cy="77724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92608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OK?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926080"/>
            <a:ext cx="1645920" cy="77724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12064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BDD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NUNCA avança automaticamente — cada gate exige confirmação do usuário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TDD — por cenário BDD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377440" cy="182880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que falha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o cenário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Given/When/Then em teste.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falha, o teste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errado.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66160" y="1280160"/>
            <a:ext cx="2377440" cy="182880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para passar — KISS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mais simples 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 teste passar.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antecipe futuro.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abstrações extras.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851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0" y="1280160"/>
            <a:ext cx="2011680" cy="182880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+ DRY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 primeiro.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DRY: regra de três.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testes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DEVEM passar.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Ordem: happy path → edge cases → error cases  •  Não avance sem o anterior verde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QUÊ entregar e COMO vai parecer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58000"/>
            <a:ext cx="71677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Discovery — entender o problema antes de especificar 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40000"/>
            <a:ext cx="76809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Discovery não produz BDD. Spec não produz código. Cada fase tem seu lugar e seus artefatos.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920" y="1320000"/>
            <a:ext cx="1700000" cy="931162"/>
          </a:xfrm>
          <a:prstGeom prst="rect">
            <a:avLst/>
          </a:prstGeom>
          <a:solidFill>
            <a:srgbClr val="2E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2120" y="1338907"/>
            <a:ext cx="1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DCDCAA"/>
                </a:solidFill>
              </a:rPr>
              <a:t>/discover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920" y="1588907"/>
            <a:ext cx="159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</a:rPr>
              <a:t>problema</a:t>
            </a:r>
            <a:r>
              <a:rPr sz="1100" b="0" dirty="0">
                <a:solidFill>
                  <a:srgbClr val="CCCCCC"/>
                </a:solidFill>
              </a:rPr>
              <a:t>
</a:t>
            </a:r>
            <a:r>
              <a:rPr sz="1100" b="0" dirty="0" err="1">
                <a:solidFill>
                  <a:srgbClr val="CCCCCC"/>
                </a:solidFill>
              </a:rPr>
              <a:t>hipótese</a:t>
            </a:r>
            <a:r>
              <a:rPr sz="1100" b="0" dirty="0">
                <a:solidFill>
                  <a:srgbClr val="CCCCCC"/>
                </a:solidFill>
              </a:rPr>
              <a:t>
</a:t>
            </a:r>
            <a:r>
              <a:rPr sz="1100" b="0" dirty="0" err="1">
                <a:solidFill>
                  <a:srgbClr val="CCCCCC"/>
                </a:solidFill>
              </a:rPr>
              <a:t>suposições</a:t>
            </a:r>
            <a:endParaRPr sz="1100" b="0" dirty="0">
              <a:solidFill>
                <a:srgbClr val="CCCC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62460" y="16300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0000" y="1319999"/>
            <a:ext cx="1700000" cy="931163"/>
          </a:xfrm>
          <a:prstGeom prst="rect">
            <a:avLst/>
          </a:prstGeom>
          <a:solidFill>
            <a:srgbClr val="2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5000" y="1320000"/>
            <a:ext cx="1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C586C0"/>
                </a:solidFill>
              </a:rPr>
              <a:t>decisão</a:t>
            </a:r>
            <a:endParaRPr sz="1400" b="1" dirty="0">
              <a:solidFill>
                <a:srgbClr val="C586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55000" y="1506435"/>
            <a:ext cx="159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</a:rPr>
              <a:t>Construir</a:t>
            </a:r>
            <a:r>
              <a:rPr sz="1100" b="0" dirty="0">
                <a:solidFill>
                  <a:srgbClr val="CCCCCC"/>
                </a:solidFill>
              </a:rPr>
              <a:t>?
Validar?
</a:t>
            </a:r>
            <a:r>
              <a:rPr sz="1100" b="0" dirty="0" err="1">
                <a:solidFill>
                  <a:srgbClr val="CCCCCC"/>
                </a:solidFill>
              </a:rPr>
              <a:t>Diferir</a:t>
            </a:r>
            <a:r>
              <a:rPr sz="1100" b="0" dirty="0">
                <a:solidFill>
                  <a:srgbClr val="CCCCCC"/>
                </a:solidFill>
              </a:rPr>
              <a:t>?
</a:t>
            </a:r>
            <a:r>
              <a:rPr sz="1100" b="0" dirty="0" err="1">
                <a:solidFill>
                  <a:srgbClr val="CCCCCC"/>
                </a:solidFill>
              </a:rPr>
              <a:t>Descartar</a:t>
            </a:r>
            <a:r>
              <a:rPr sz="1100" b="0" dirty="0">
                <a:solidFill>
                  <a:srgbClr val="CCCCCC"/>
                </a:solidFill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9213" y="16300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4060" y="1320000"/>
            <a:ext cx="1700000" cy="939290"/>
          </a:xfrm>
          <a:prstGeom prst="rect">
            <a:avLst/>
          </a:prstGeom>
          <a:solidFill>
            <a:srgbClr val="10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9060" y="1326400"/>
            <a:ext cx="1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569CD6"/>
                </a:solidFill>
              </a:rPr>
              <a:t>/spec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060" y="1555814"/>
            <a:ext cx="159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CCCCC"/>
                </a:solidFill>
              </a:rPr>
              <a:t>story.md</a:t>
            </a:r>
            <a:r>
              <a:rPr sz="1100" b="0" dirty="0">
                <a:solidFill>
                  <a:srgbClr val="CCCCCC"/>
                </a:solidFill>
              </a:rPr>
              <a:t>
</a:t>
            </a:r>
            <a:r>
              <a:rPr sz="1100" b="0" dirty="0" err="1">
                <a:solidFill>
                  <a:srgbClr val="CCCCCC"/>
                </a:solidFill>
              </a:rPr>
              <a:t>spec.bdd.md</a:t>
            </a:r>
            <a:r>
              <a:rPr sz="1100" b="0" dirty="0">
                <a:solidFill>
                  <a:srgbClr val="CCCCCC"/>
                </a:solidFill>
              </a:rPr>
              <a:t>
(Three Amigos)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4447" y="1630000"/>
            <a:ext cx="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28120" y="1327493"/>
            <a:ext cx="1492480" cy="939289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3431" y="1335582"/>
            <a:ext cx="149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EC9B0"/>
                </a:solidFill>
              </a:rPr>
              <a:t>/implement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7217" y="1584293"/>
            <a:ext cx="134745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TDD
RED→GREEN
→REFACTOR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470" y="2310000"/>
            <a:ext cx="3896289" cy="246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390000"/>
            <a:ext cx="374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DCDCAA"/>
                </a:solidFill>
              </a:rPr>
              <a:t>.discovery/  — </a:t>
            </a:r>
            <a:r>
              <a:rPr sz="1300" b="1" dirty="0" err="1">
                <a:solidFill>
                  <a:srgbClr val="DCDCAA"/>
                </a:solidFill>
              </a:rPr>
              <a:t>exploração</a:t>
            </a:r>
            <a:r>
              <a:rPr sz="1300" b="1" dirty="0">
                <a:solidFill>
                  <a:srgbClr val="DCDCAA"/>
                </a:solidFill>
              </a:rPr>
              <a:t> (PD)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10000"/>
            <a:ext cx="37428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.discovery/{DISC-ID}/
  </a:t>
            </a:r>
            <a:r>
              <a:rPr sz="1100" b="0" dirty="0" err="1">
                <a:solidFill>
                  <a:srgbClr val="CCCCCC"/>
                </a:solidFill>
              </a:rPr>
              <a:t>problem.md</a:t>
            </a:r>
            <a:r>
              <a:rPr sz="1100" b="0" dirty="0">
                <a:solidFill>
                  <a:srgbClr val="CCCCCC"/>
                </a:solidFill>
              </a:rPr>
              <a:t>       → persona, </a:t>
            </a:r>
            <a:r>
              <a:rPr sz="1100" b="0" dirty="0" err="1">
                <a:solidFill>
                  <a:srgbClr val="CCCCCC"/>
                </a:solidFill>
              </a:rPr>
              <a:t>impacto</a:t>
            </a:r>
            <a:r>
              <a:rPr sz="1100" b="0" dirty="0">
                <a:solidFill>
                  <a:srgbClr val="CCCCCC"/>
                </a:solidFill>
              </a:rPr>
              <a:t>, </a:t>
            </a:r>
            <a:r>
              <a:rPr sz="1100" b="0" dirty="0" err="1">
                <a:solidFill>
                  <a:srgbClr val="CCCCCC"/>
                </a:solidFill>
              </a:rPr>
              <a:t>alternativas</a:t>
            </a:r>
            <a:r>
              <a:rPr sz="1100" b="0" dirty="0">
                <a:solidFill>
                  <a:srgbClr val="CCCCCC"/>
                </a:solidFill>
              </a:rPr>
              <a:t>
  </a:t>
            </a:r>
            <a:r>
              <a:rPr sz="1100" b="0" dirty="0" err="1">
                <a:solidFill>
                  <a:srgbClr val="CCCCCC"/>
                </a:solidFill>
              </a:rPr>
              <a:t>hypothesis.md</a:t>
            </a:r>
            <a:r>
              <a:rPr sz="1100" b="0" dirty="0">
                <a:solidFill>
                  <a:srgbClr val="CCCCCC"/>
                </a:solidFill>
              </a:rPr>
              <a:t>    → </a:t>
            </a:r>
            <a:r>
              <a:rPr sz="1100" b="0" dirty="0" err="1">
                <a:solidFill>
                  <a:srgbClr val="CCCCCC"/>
                </a:solidFill>
              </a:rPr>
              <a:t>hipótese</a:t>
            </a:r>
            <a:r>
              <a:rPr sz="1100" b="0" dirty="0">
                <a:solidFill>
                  <a:srgbClr val="CCCCCC"/>
                </a:solidFill>
              </a:rPr>
              <a:t> + </a:t>
            </a:r>
            <a:r>
              <a:rPr sz="1100" b="0" dirty="0" err="1">
                <a:solidFill>
                  <a:srgbClr val="CCCCCC"/>
                </a:solidFill>
              </a:rPr>
              <a:t>métricas</a:t>
            </a:r>
            <a:r>
              <a:rPr sz="1100" b="0" dirty="0">
                <a:solidFill>
                  <a:srgbClr val="CCCCCC"/>
                </a:solidFill>
              </a:rPr>
              <a:t> + </a:t>
            </a:r>
            <a:r>
              <a:rPr sz="1100" b="0" dirty="0" err="1">
                <a:solidFill>
                  <a:srgbClr val="CCCCCC"/>
                </a:solidFill>
              </a:rPr>
              <a:t>suposições</a:t>
            </a:r>
            <a:r>
              <a:rPr sz="1100" b="0" dirty="0">
                <a:solidFill>
                  <a:srgbClr val="CCCCCC"/>
                </a:solidFill>
              </a:rPr>
              <a:t>
  </a:t>
            </a:r>
            <a:r>
              <a:rPr sz="1100" b="0" dirty="0" err="1">
                <a:solidFill>
                  <a:srgbClr val="CCCCCC"/>
                </a:solidFill>
              </a:rPr>
              <a:t>decision.md</a:t>
            </a:r>
            <a:r>
              <a:rPr sz="1100" b="0" dirty="0">
                <a:solidFill>
                  <a:srgbClr val="CCCCCC"/>
                </a:solidFill>
              </a:rPr>
              <a:t>      → </a:t>
            </a:r>
            <a:r>
              <a:rPr sz="1100" b="0" dirty="0" err="1">
                <a:solidFill>
                  <a:srgbClr val="CCCCCC"/>
                </a:solidFill>
              </a:rPr>
              <a:t>Construir</a:t>
            </a:r>
            <a:r>
              <a:rPr sz="1100" b="0" dirty="0">
                <a:solidFill>
                  <a:srgbClr val="CCCCCC"/>
                </a:solidFill>
              </a:rPr>
              <a:t> / Validar / </a:t>
            </a:r>
            <a:r>
              <a:rPr sz="1100" b="0" dirty="0" err="1">
                <a:solidFill>
                  <a:srgbClr val="CCCCCC"/>
                </a:solidFill>
              </a:rPr>
              <a:t>Diferir</a:t>
            </a:r>
            <a:r>
              <a:rPr sz="1100" b="0" dirty="0">
                <a:solidFill>
                  <a:srgbClr val="CCCCCC"/>
                </a:solidFill>
              </a:rPr>
              <a:t> / </a:t>
            </a:r>
            <a:r>
              <a:rPr sz="1100" b="0" dirty="0" err="1">
                <a:solidFill>
                  <a:srgbClr val="CCCCCC"/>
                </a:solidFill>
              </a:rPr>
              <a:t>Descartar</a:t>
            </a:r>
            <a:r>
              <a:rPr sz="1100" b="0" dirty="0">
                <a:solidFill>
                  <a:srgbClr val="CCCCCC"/>
                </a:solidFill>
              </a:rPr>
              <a:t>
specs/{story-id}/  — </a:t>
            </a:r>
            <a:r>
              <a:rPr sz="1100" b="0" dirty="0" err="1">
                <a:solidFill>
                  <a:srgbClr val="CCCCCC"/>
                </a:solidFill>
              </a:rPr>
              <a:t>implementação</a:t>
            </a:r>
            <a:r>
              <a:rPr sz="1100" b="0" dirty="0">
                <a:solidFill>
                  <a:srgbClr val="CCCCCC"/>
                </a:solidFill>
              </a:rPr>
              <a:t> (EQA)
  </a:t>
            </a:r>
            <a:r>
              <a:rPr sz="1100" b="0" dirty="0" err="1">
                <a:solidFill>
                  <a:srgbClr val="CCCCCC"/>
                </a:solidFill>
              </a:rPr>
              <a:t>story.md</a:t>
            </a:r>
            <a:r>
              <a:rPr sz="1100" b="0" dirty="0">
                <a:solidFill>
                  <a:srgbClr val="CCCCCC"/>
                </a:solidFill>
              </a:rPr>
              <a:t>         → </a:t>
            </a:r>
            <a:r>
              <a:rPr sz="1100" b="0" dirty="0" err="1">
                <a:solidFill>
                  <a:srgbClr val="CCCCCC"/>
                </a:solidFill>
              </a:rPr>
              <a:t>referencia</a:t>
            </a:r>
            <a:r>
              <a:rPr sz="1100" b="0" dirty="0">
                <a:solidFill>
                  <a:srgbClr val="CCCCCC"/>
                </a:solidFill>
              </a:rPr>
              <a:t> .discovery/{DISC-ID}/
  </a:t>
            </a:r>
            <a:r>
              <a:rPr sz="1100" b="0" dirty="0" err="1">
                <a:solidFill>
                  <a:srgbClr val="CCCCCC"/>
                </a:solidFill>
              </a:rPr>
              <a:t>spec.bdd.md</a:t>
            </a:r>
            <a:r>
              <a:rPr sz="1100" b="0" dirty="0">
                <a:solidFill>
                  <a:srgbClr val="CCCCCC"/>
                </a:solidFill>
              </a:rPr>
              <a:t>      → </a:t>
            </a:r>
            <a:r>
              <a:rPr sz="1100" b="0" dirty="0" err="1">
                <a:solidFill>
                  <a:srgbClr val="CCCCCC"/>
                </a:solidFill>
              </a:rPr>
              <a:t>cenários</a:t>
            </a:r>
            <a:r>
              <a:rPr sz="1100" b="0" dirty="0">
                <a:solidFill>
                  <a:srgbClr val="CCCCCC"/>
                </a:solidFill>
              </a:rPr>
              <a:t> BDD (Three Amigos)
  </a:t>
            </a:r>
            <a:r>
              <a:rPr sz="1100" b="0" dirty="0" err="1">
                <a:solidFill>
                  <a:srgbClr val="CCCCCC"/>
                </a:solidFill>
              </a:rPr>
              <a:t>tasks.md</a:t>
            </a:r>
            <a:r>
              <a:rPr sz="1100" b="0" dirty="0">
                <a:solidFill>
                  <a:srgbClr val="CCCCCC"/>
                </a:solidFill>
              </a:rPr>
              <a:t>         → breakdown de </a:t>
            </a:r>
            <a:r>
              <a:rPr sz="1100" b="0" dirty="0" err="1">
                <a:solidFill>
                  <a:srgbClr val="CCCCCC"/>
                </a:solidFill>
              </a:rPr>
              <a:t>implementação</a:t>
            </a:r>
            <a:endParaRPr sz="1100" b="0" dirty="0">
              <a:solidFill>
                <a:srgbClr val="CCCCCC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57200" y="2310000"/>
            <a:ext cx="3389520" cy="246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48640" y="2332852"/>
            <a:ext cx="32980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C586C0"/>
                </a:solidFill>
              </a:rPr>
              <a:t>Decisões</a:t>
            </a:r>
            <a:r>
              <a:rPr sz="1300" b="1" dirty="0">
                <a:solidFill>
                  <a:srgbClr val="C586C0"/>
                </a:solidFill>
              </a:rPr>
              <a:t> do /discover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8640" y="2579376"/>
            <a:ext cx="18288" cy="3400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1200" y="2578556"/>
            <a:ext cx="31695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4EC9B0"/>
                </a:solidFill>
              </a:rPr>
              <a:t>Construir</a:t>
            </a:r>
            <a:endParaRPr sz="1200" b="1" dirty="0">
              <a:solidFill>
                <a:srgbClr val="4EC9B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21200" y="2776720"/>
            <a:ext cx="3169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CCCCCC"/>
                </a:solidFill>
              </a:rPr>
              <a:t>hipótese</a:t>
            </a:r>
            <a:r>
              <a:rPr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clara</a:t>
            </a:r>
            <a:r>
              <a:rPr sz="1000" b="0" dirty="0">
                <a:solidFill>
                  <a:srgbClr val="CCCCCC"/>
                </a:solidFill>
              </a:rPr>
              <a:t>, </a:t>
            </a:r>
            <a:r>
              <a:rPr sz="1000" b="0" dirty="0" err="1">
                <a:solidFill>
                  <a:srgbClr val="CCCCCC"/>
                </a:solidFill>
              </a:rPr>
              <a:t>prioridade</a:t>
            </a:r>
            <a:r>
              <a:rPr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confirmada</a:t>
            </a:r>
            <a:r>
              <a:rPr lang="pt-BR" sz="1000" dirty="0">
                <a:solidFill>
                  <a:srgbClr val="CCCCCC"/>
                </a:solidFill>
              </a:rPr>
              <a:t> </a:t>
            </a:r>
            <a:r>
              <a:rPr sz="1000" b="0" dirty="0">
                <a:solidFill>
                  <a:srgbClr val="CCCCCC"/>
                </a:solidFill>
              </a:rPr>
              <a:t>→ </a:t>
            </a:r>
            <a:r>
              <a:rPr sz="1000" b="0" dirty="0" err="1">
                <a:solidFill>
                  <a:srgbClr val="CCCCCC"/>
                </a:solidFill>
              </a:rPr>
              <a:t>cria</a:t>
            </a:r>
            <a:r>
              <a:rPr sz="1000" b="0" dirty="0">
                <a:solidFill>
                  <a:srgbClr val="CCCCCC"/>
                </a:solidFill>
              </a:rPr>
              <a:t> story </a:t>
            </a:r>
            <a:r>
              <a:rPr sz="1000" b="0" dirty="0" err="1">
                <a:solidFill>
                  <a:srgbClr val="CCCCCC"/>
                </a:solidFill>
              </a:rPr>
              <a:t>em</a:t>
            </a:r>
            <a:r>
              <a:rPr sz="1000" b="0" dirty="0">
                <a:solidFill>
                  <a:srgbClr val="CCCCCC"/>
                </a:solidFill>
              </a:rPr>
              <a:t> specs/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48640" y="3069376"/>
            <a:ext cx="18288" cy="340000"/>
          </a:xfrm>
          <a:prstGeom prst="rect">
            <a:avLst/>
          </a:prstGeom>
          <a:solidFill>
            <a:srgbClr val="DC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1200" y="3084884"/>
            <a:ext cx="31695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DCDCAA"/>
                </a:solidFill>
              </a:rPr>
              <a:t>Validar </a:t>
            </a:r>
            <a:r>
              <a:rPr sz="1200" b="1" dirty="0" err="1">
                <a:solidFill>
                  <a:srgbClr val="DCDCAA"/>
                </a:solidFill>
              </a:rPr>
              <a:t>primeiro</a:t>
            </a:r>
            <a:endParaRPr sz="1200" b="1" dirty="0">
              <a:solidFill>
                <a:srgbClr val="DCDCA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1200" y="3250392"/>
            <a:ext cx="3169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CCCCCC"/>
                </a:solidFill>
              </a:rPr>
              <a:t>suposição</a:t>
            </a:r>
            <a:r>
              <a:rPr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crítica</a:t>
            </a:r>
            <a:r>
              <a:rPr sz="1000" b="0" dirty="0">
                <a:solidFill>
                  <a:srgbClr val="CCCCCC"/>
                </a:solidFill>
              </a:rPr>
              <a:t> incerta</a:t>
            </a:r>
            <a:r>
              <a:rPr lang="pt-BR" sz="1000" b="0" dirty="0">
                <a:solidFill>
                  <a:srgbClr val="CCCCCC"/>
                </a:solidFill>
              </a:rPr>
              <a:t> </a:t>
            </a:r>
            <a:r>
              <a:rPr sz="1000" b="0" dirty="0">
                <a:solidFill>
                  <a:srgbClr val="CCCCCC"/>
                </a:solidFill>
              </a:rPr>
              <a:t>→ </a:t>
            </a:r>
            <a:r>
              <a:rPr sz="1000" b="0" dirty="0" err="1">
                <a:solidFill>
                  <a:srgbClr val="CCCCCC"/>
                </a:solidFill>
              </a:rPr>
              <a:t>experimento</a:t>
            </a:r>
            <a:r>
              <a:rPr sz="1000" b="0" dirty="0">
                <a:solidFill>
                  <a:srgbClr val="CCCCCC"/>
                </a:solidFill>
              </a:rPr>
              <a:t> antes de</a:t>
            </a:r>
            <a:r>
              <a:rPr lang="pt-BR"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construir</a:t>
            </a:r>
            <a:endParaRPr sz="1000" b="0" dirty="0">
              <a:solidFill>
                <a:srgbClr val="CCCCCC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748640" y="3559376"/>
            <a:ext cx="18288" cy="3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1200" y="3574884"/>
            <a:ext cx="31695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888888"/>
                </a:solidFill>
              </a:rPr>
              <a:t>Diferir</a:t>
            </a:r>
            <a:endParaRPr sz="1200" b="1" dirty="0">
              <a:solidFill>
                <a:srgbClr val="888888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21200" y="3756720"/>
            <a:ext cx="3169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CCCCCC"/>
                </a:solidFill>
              </a:rPr>
              <a:t>válido</a:t>
            </a:r>
            <a:r>
              <a:rPr sz="1000" b="0" dirty="0">
                <a:solidFill>
                  <a:srgbClr val="CCCCCC"/>
                </a:solidFill>
              </a:rPr>
              <a:t>, mas </a:t>
            </a:r>
            <a:r>
              <a:rPr sz="1000" b="0" dirty="0" err="1">
                <a:solidFill>
                  <a:srgbClr val="CCCCCC"/>
                </a:solidFill>
              </a:rPr>
              <a:t>não</a:t>
            </a:r>
            <a:r>
              <a:rPr sz="1000" b="0" dirty="0">
                <a:solidFill>
                  <a:srgbClr val="CCCCCC"/>
                </a:solidFill>
              </a:rPr>
              <a:t> agora</a:t>
            </a:r>
            <a:r>
              <a:rPr lang="pt-BR" sz="1000" b="0" dirty="0">
                <a:solidFill>
                  <a:srgbClr val="CCCCCC"/>
                </a:solidFill>
              </a:rPr>
              <a:t> </a:t>
            </a:r>
            <a:r>
              <a:rPr sz="1000" b="0" dirty="0">
                <a:solidFill>
                  <a:srgbClr val="CCCCCC"/>
                </a:solidFill>
              </a:rPr>
              <a:t>→ </a:t>
            </a:r>
            <a:r>
              <a:rPr sz="1000" b="0" dirty="0" err="1">
                <a:solidFill>
                  <a:srgbClr val="CCCCCC"/>
                </a:solidFill>
              </a:rPr>
              <a:t>registra</a:t>
            </a:r>
            <a:r>
              <a:rPr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condição</a:t>
            </a:r>
            <a:r>
              <a:rPr sz="1000" b="0" dirty="0">
                <a:solidFill>
                  <a:srgbClr val="CCCCCC"/>
                </a:solidFill>
              </a:rPr>
              <a:t> de </a:t>
            </a:r>
            <a:r>
              <a:rPr sz="1000" b="0" dirty="0" err="1">
                <a:solidFill>
                  <a:srgbClr val="CCCCCC"/>
                </a:solidFill>
              </a:rPr>
              <a:t>revisão</a:t>
            </a:r>
            <a:endParaRPr sz="1000" b="0" dirty="0">
              <a:solidFill>
                <a:srgbClr val="CCCCCC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748640" y="4049376"/>
            <a:ext cx="18288" cy="340000"/>
          </a:xfrm>
          <a:prstGeom prst="rect">
            <a:avLst/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21200" y="4089376"/>
            <a:ext cx="31695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8771"/>
                </a:solidFill>
              </a:rPr>
              <a:t>Descartar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1200" y="4279376"/>
            <a:ext cx="3169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CCCCCC"/>
                </a:solidFill>
              </a:rPr>
              <a:t>problema</a:t>
            </a:r>
            <a:r>
              <a:rPr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não</a:t>
            </a:r>
            <a:r>
              <a:rPr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confirmado</a:t>
            </a:r>
            <a:r>
              <a:rPr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ou</a:t>
            </a:r>
            <a:r>
              <a:rPr sz="1000" b="0" dirty="0">
                <a:solidFill>
                  <a:srgbClr val="CCCCCC"/>
                </a:solidFill>
              </a:rPr>
              <a:t> fora de </a:t>
            </a:r>
            <a:r>
              <a:rPr sz="1000" b="0" dirty="0" err="1">
                <a:solidFill>
                  <a:srgbClr val="CCCCCC"/>
                </a:solidFill>
              </a:rPr>
              <a:t>escopo</a:t>
            </a:r>
            <a:r>
              <a:rPr lang="pt-BR" sz="1000" dirty="0">
                <a:solidFill>
                  <a:srgbClr val="CCCCCC"/>
                </a:solidFill>
              </a:rPr>
              <a:t> </a:t>
            </a:r>
            <a:r>
              <a:rPr sz="1000" b="0" dirty="0">
                <a:solidFill>
                  <a:srgbClr val="CCCCCC"/>
                </a:solidFill>
              </a:rPr>
              <a:t>→ </a:t>
            </a:r>
            <a:r>
              <a:rPr sz="1000" b="0" dirty="0" err="1">
                <a:solidFill>
                  <a:srgbClr val="CCCCCC"/>
                </a:solidFill>
              </a:rPr>
              <a:t>registra</a:t>
            </a:r>
            <a:r>
              <a:rPr sz="1000" b="0" dirty="0">
                <a:solidFill>
                  <a:srgbClr val="CCCCCC"/>
                </a:solidFill>
              </a:rPr>
              <a:t> </a:t>
            </a:r>
            <a:r>
              <a:rPr sz="1000" b="0" dirty="0" err="1">
                <a:solidFill>
                  <a:srgbClr val="CCCCCC"/>
                </a:solidFill>
              </a:rPr>
              <a:t>motivo</a:t>
            </a:r>
            <a:endParaRPr sz="1000" b="0" dirty="0">
              <a:solidFill>
                <a:srgbClr val="CCCCCC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9470" y="4797391"/>
            <a:ext cx="7377250" cy="2800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784664"/>
            <a:ext cx="68017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EC9B0"/>
                </a:solidFill>
              </a:rPr>
              <a:t>Discovery </a:t>
            </a:r>
            <a:r>
              <a:rPr sz="1200" b="0" dirty="0" err="1">
                <a:solidFill>
                  <a:srgbClr val="4EC9B0"/>
                </a:solidFill>
              </a:rPr>
              <a:t>sem</a:t>
            </a:r>
            <a:r>
              <a:rPr sz="1200" b="0" dirty="0">
                <a:solidFill>
                  <a:srgbClr val="4EC9B0"/>
                </a:solidFill>
              </a:rPr>
              <a:t> </a:t>
            </a:r>
            <a:r>
              <a:rPr sz="1200" b="0" dirty="0" err="1">
                <a:solidFill>
                  <a:srgbClr val="4EC9B0"/>
                </a:solidFill>
              </a:rPr>
              <a:t>decisão</a:t>
            </a:r>
            <a:r>
              <a:rPr sz="1200" b="0" dirty="0">
                <a:solidFill>
                  <a:srgbClr val="4EC9B0"/>
                </a:solidFill>
              </a:rPr>
              <a:t> </a:t>
            </a:r>
            <a:r>
              <a:rPr sz="1200" b="0" dirty="0" err="1">
                <a:solidFill>
                  <a:srgbClr val="4EC9B0"/>
                </a:solidFill>
              </a:rPr>
              <a:t>explícita</a:t>
            </a:r>
            <a:r>
              <a:rPr sz="1200" b="0" dirty="0">
                <a:solidFill>
                  <a:srgbClr val="4EC9B0"/>
                </a:solidFill>
              </a:rPr>
              <a:t> </a:t>
            </a:r>
            <a:r>
              <a:rPr sz="1200" b="0" dirty="0" err="1">
                <a:solidFill>
                  <a:srgbClr val="4EC9B0"/>
                </a:solidFill>
              </a:rPr>
              <a:t>não</a:t>
            </a:r>
            <a:r>
              <a:rPr sz="1200" b="0" dirty="0">
                <a:solidFill>
                  <a:srgbClr val="4EC9B0"/>
                </a:solidFill>
              </a:rPr>
              <a:t> </a:t>
            </a:r>
            <a:r>
              <a:rPr sz="1200" b="0" dirty="0" err="1">
                <a:solidFill>
                  <a:srgbClr val="4EC9B0"/>
                </a:solidFill>
              </a:rPr>
              <a:t>está</a:t>
            </a:r>
            <a:r>
              <a:rPr sz="1200" b="0" dirty="0">
                <a:solidFill>
                  <a:srgbClr val="4EC9B0"/>
                </a:solidFill>
              </a:rPr>
              <a:t> </a:t>
            </a:r>
            <a:r>
              <a:rPr sz="1200" b="0" dirty="0" err="1">
                <a:solidFill>
                  <a:srgbClr val="4EC9B0"/>
                </a:solidFill>
              </a:rPr>
              <a:t>concluído</a:t>
            </a:r>
            <a:r>
              <a:rPr sz="1200" b="0" dirty="0">
                <a:solidFill>
                  <a:srgbClr val="4EC9B0"/>
                </a:solidFill>
              </a:rPr>
              <a:t>. Spec </a:t>
            </a:r>
            <a:r>
              <a:rPr sz="1200" b="0" dirty="0" err="1">
                <a:solidFill>
                  <a:srgbClr val="4EC9B0"/>
                </a:solidFill>
              </a:rPr>
              <a:t>sem</a:t>
            </a:r>
            <a:r>
              <a:rPr sz="1200" b="0" dirty="0">
                <a:solidFill>
                  <a:srgbClr val="4EC9B0"/>
                </a:solidFill>
              </a:rPr>
              <a:t> discovery </a:t>
            </a:r>
            <a:r>
              <a:rPr sz="1200" b="0" dirty="0" err="1">
                <a:solidFill>
                  <a:srgbClr val="4EC9B0"/>
                </a:solidFill>
              </a:rPr>
              <a:t>é</a:t>
            </a:r>
            <a:r>
              <a:rPr sz="1200" b="0" dirty="0">
                <a:solidFill>
                  <a:srgbClr val="4EC9B0"/>
                </a:solidFill>
              </a:rPr>
              <a:t> </a:t>
            </a:r>
            <a:r>
              <a:rPr sz="1200" b="0" dirty="0" err="1">
                <a:solidFill>
                  <a:srgbClr val="4EC9B0"/>
                </a:solidFill>
              </a:rPr>
              <a:t>especificação</a:t>
            </a:r>
            <a:r>
              <a:rPr sz="1200" b="0" dirty="0">
                <a:solidFill>
                  <a:srgbClr val="4EC9B0"/>
                </a:solidFill>
              </a:rPr>
              <a:t> no </a:t>
            </a:r>
            <a:r>
              <a:rPr sz="1200" b="0" dirty="0" err="1">
                <a:solidFill>
                  <a:srgbClr val="4EC9B0"/>
                </a:solidFill>
              </a:rPr>
              <a:t>escuro</a:t>
            </a:r>
            <a:r>
              <a:rPr sz="1200" b="0" dirty="0">
                <a:solidFill>
                  <a:srgbClr val="4EC9B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 — Comandos e fluxo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4998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/discover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 ou problema
em linguagem natural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Sessão estruturada:
problema → hipótese
→ suposições → decisão.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.discovery/{id}/
problem.md
hypothesis.md
decision.md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em
linguagem natural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Sessão Three Amigos.
Identifica regras de negócio.
Escreve cenários Gherkin:
happy + edge + error.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specs/{id}/story.md
specs/{id}/spec.bdd.md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09335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da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+ spec + blueprint
+ ADR + tasks.
Sem implementação.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specs/{id}/ completo
docs/adr/ (se necessário)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(pós-entrega)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do EQA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experiência,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acessibilidade,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consistência visual.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specs/{id}/ux-review.md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9748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89025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886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PD foca em valor de negócio. Não escreve código, não cria ADRs, não toma decisões de infra.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 — Exemplo prático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Cenário: o cliente precisa de um sistema de avaliação de produtos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840480" cy="1280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o que o PD recebe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"Clientes precisam avaliar produtos 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de 1 a 5 e um comentário opcional.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média deve aparecer na página do produto."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56616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story.md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cliente autenticado,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avaliar um produto 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 comentário,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outros compradores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vejam a opinião de quem comprou.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aceite (gerados pelo PD)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deve ser entre 1 e 5 (inteiro)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 é opcional, máximo 500 caracteres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só pode avaliar produto que comprou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é recalculada a cada nova avaliação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pode editar sua avaliação, não duplicar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 &amp; QA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com qualidade — quem codifica garante a entrega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EQA — Comandos e fluxo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510994"/>
              </p:ext>
            </p:extLst>
          </p:nvPr>
        </p:nvGraphicFramePr>
        <p:xfrm>
          <a:off x="457200" y="1188720"/>
          <a:ext cx="8229600" cy="280720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/implement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specs/{id}/spec.bdd.md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STACK.md + blueprint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 por cenário: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→ GREEN → REFACTOR.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 mapping.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 + tests/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tests/fixtures/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atualizada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(auto)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+ spec 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código vs spec.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Checa anti-patterns,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segurança, error handling.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preenchido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/analyze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+ área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código afetada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código relevante.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Domínio, riscos, edge cases,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 estratégica.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specs/{id}/analysis.md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/sync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+ código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divergência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spec vs código.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 drift.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 o lado defasado.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ou código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da 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+ spec + blueprint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ADR + tasks.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implementação.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specs/{id}/ completo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docs/adr/ (se necessário)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lê STACK.md + análise. /review é auto-disparado pelo /implement quando cenários ficam verdes. Manual apenas em 3 casos: re-validar pós-refactor/merge, pré-release, ou fluxo Jira/Azure depois do /sync.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 — Exemplo: /spec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PD conduz sessão Three Amigos e gera a spec BDD.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2926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specs/STORY-042/spec.bdd.md  — gerado pelo /spec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315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 Avaliação de produtos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Avaliação com nota e comentário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um cliente autenticado que comprou o produto "Teclado MX"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ele envia uma avaliação com nota 4 e comentário "Ótimo"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a avaliação é salva com sucesso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a média do produto é recalculada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Avaliação sem compra prévia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um cliente autenticado que NÃO comprou o produto "Mouse Pro"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ele tenta enviar uma avaliação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recebe erro "Apenas compradores podem avaliar"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Nota fora do range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um cliente autenticado que comprou o produto "Teclado MX"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ele envia uma avaliação com nota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recebe erro "Nota deve ser entre 1 e 5"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EQA — Exemplo: /implement (TDD)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EQA implementa cenário por cenário, seguindo RED → GREEN → REFACTOR.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210312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escreve teste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2286000" cy="1463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test("deve salvar avaliação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 nota e comentário",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Arrange (Given)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mockBuyer()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Act (When)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review(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user, product, 4, "Ótimo"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Assert (Then)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expect(result.saved).toBe(true)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210312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mínimo (KISS)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2057400"/>
            <a:ext cx="2286000" cy="1463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703320" y="21031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review(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user, product, score, comment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(!hasPurchased(user, product))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NotBuyerError()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(score &lt; 1 || score &gt; 5)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InvalidScoreError()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db.save({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user, product, score, comment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194560" cy="210312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— SOLID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SRP: extrair validação
para ReviewValidator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DIP: db atrás de
interface ReviewRepository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 no início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tipados: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NotBuyerError,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InvalidScoreError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 verde → avança para Cenário 2 (sem compra) → Cenário 3 (nota inválida)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</a:rPr>
              <a:t>Fluxo Jira/Azure — story já refinada, implementação direta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88670" y="1173697"/>
            <a:ext cx="7315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4748B"/>
                </a:solidFill>
              </a:rPr>
              <a:t>Quando o </a:t>
            </a:r>
            <a:r>
              <a:rPr sz="1300" b="0" dirty="0" err="1">
                <a:solidFill>
                  <a:srgbClr val="64748B"/>
                </a:solidFill>
              </a:rPr>
              <a:t>refinamento</a:t>
            </a:r>
            <a:r>
              <a:rPr sz="1300" b="0" dirty="0">
                <a:solidFill>
                  <a:srgbClr val="64748B"/>
                </a:solidFill>
              </a:rPr>
              <a:t> </a:t>
            </a:r>
            <a:r>
              <a:rPr sz="1300" b="0" dirty="0" err="1">
                <a:solidFill>
                  <a:srgbClr val="64748B"/>
                </a:solidFill>
              </a:rPr>
              <a:t>já</a:t>
            </a:r>
            <a:r>
              <a:rPr sz="1300" b="0" dirty="0">
                <a:solidFill>
                  <a:srgbClr val="64748B"/>
                </a:solidFill>
              </a:rPr>
              <a:t> </a:t>
            </a:r>
            <a:r>
              <a:rPr sz="1300" b="0" dirty="0" err="1">
                <a:solidFill>
                  <a:srgbClr val="64748B"/>
                </a:solidFill>
              </a:rPr>
              <a:t>aconteceu</a:t>
            </a:r>
            <a:r>
              <a:rPr sz="1300" b="0" dirty="0">
                <a:solidFill>
                  <a:srgbClr val="64748B"/>
                </a:solidFill>
              </a:rPr>
              <a:t> fora do SDD Kit, o /spec </a:t>
            </a:r>
            <a:r>
              <a:rPr sz="1300" b="0" dirty="0" err="1">
                <a:solidFill>
                  <a:srgbClr val="64748B"/>
                </a:solidFill>
              </a:rPr>
              <a:t>é</a:t>
            </a:r>
            <a:r>
              <a:rPr sz="1300" b="0" dirty="0">
                <a:solidFill>
                  <a:srgbClr val="64748B"/>
                </a:solidFill>
              </a:rPr>
              <a:t> </a:t>
            </a:r>
            <a:r>
              <a:rPr sz="1300" b="0" dirty="0" err="1">
                <a:solidFill>
                  <a:srgbClr val="64748B"/>
                </a:solidFill>
              </a:rPr>
              <a:t>opcional</a:t>
            </a:r>
            <a:r>
              <a:rPr sz="1300" b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Fluxo padrão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3657600" cy="24688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story.md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7451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Define critérios de aceite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/spec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231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Gera spec BDD (cenários)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/implement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9718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TDD guiado pela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/review (auto)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2043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Valida código vs 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79020"/>
            <a:ext cx="365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94A3B8"/>
                </a:solidFill>
              </a:rPr>
              <a:t>ou</a:t>
            </a:r>
            <a:endParaRPr sz="1200" b="1" dirty="0">
              <a:solidFill>
                <a:srgbClr val="94A3B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Fluxo Jira / Azure DevOps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783080"/>
            <a:ext cx="3657600" cy="2468880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187451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</a:rPr>
              <a:t>story (externa)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ACs do Jira / Azure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423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</a:rPr>
              <a:t>/implement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TDD guiado pelos ACs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971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</a:rPr>
              <a:t>/sync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718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Gera spec BDD do código 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520439"/>
            <a:ext cx="1280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DC2626"/>
                </a:solidFill>
              </a:rPr>
              <a:t>/review (manual)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Valida código vs spec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2626"/>
                </a:solidFill>
              </a:rPr>
              <a:t>✱ No fluxo Jira/Azure o /review automático é pulado (sem spec). Sem /sync, o /review manual e o /feature ficam bloqueados pelo process-guard.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Playbook — .sdd/PLAYBOOK.md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prático consultado durante REFACTOR e /review. 9 seções — as clássicas de código e as novas de harness: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468880" cy="100584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65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 código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return, Strategy,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Façade, DTO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468880" cy="100584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9659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8337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1480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class, Shotgun surgery,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obsession, Over-eng.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468880" cy="100584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9659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5800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function, Rename,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Decompose conditional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2971800"/>
            <a:ext cx="2468880" cy="100584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2004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0403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 teste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37160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AAA, Test doubles, Fronteiras,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&gt; implementação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474720" y="2971800"/>
            <a:ext cx="2468880" cy="1005840"/>
          </a:xfrm>
          <a:prstGeom prst="rect">
            <a:avLst/>
          </a:prstGeom>
          <a:solidFill>
            <a:srgbClr val="FFFBE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20040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1480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11480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fast, Erros tipados,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breaker, Retry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217920" y="2971800"/>
            <a:ext cx="2468880" cy="100584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0040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85800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Layers · Approved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· Keep Quality Left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8000"/>
            <a:ext cx="758952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.gitignore — o que commitar, o que proteger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00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Framework files são do time. Secrets e config locais ficam fora do repositório.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4836" y="1262320"/>
            <a:ext cx="3649384" cy="3260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6276" y="1353760"/>
            <a:ext cx="34109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4EC9B0"/>
                </a:solidFill>
              </a:rPr>
              <a:t>✓  </a:t>
            </a:r>
            <a:r>
              <a:rPr lang="pt-BR" sz="1300" b="1" dirty="0">
                <a:solidFill>
                  <a:srgbClr val="4EC9B0"/>
                </a:solidFill>
              </a:rPr>
              <a:t>Compartilhar </a:t>
            </a:r>
            <a:r>
              <a:rPr sz="1300" b="1" dirty="0">
                <a:solidFill>
                  <a:srgbClr val="4EC9B0"/>
                </a:solidFill>
              </a:rPr>
              <a:t>com a 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276" y="1719520"/>
            <a:ext cx="341098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.discovery/         </a:t>
            </a:r>
            <a:r>
              <a:rPr lang="pt-BR" sz="1100" b="0" dirty="0">
                <a:solidFill>
                  <a:srgbClr val="CCCCCC"/>
                </a:solidFill>
              </a:rPr>
              <a:t>       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lang="pt-BR" sz="1100" b="0" dirty="0">
                <a:solidFill>
                  <a:srgbClr val="CCCCCC"/>
                </a:solidFill>
              </a:rPr>
              <a:t>     </a:t>
            </a:r>
            <a:r>
              <a:rPr sz="1100" b="0" dirty="0">
                <a:solidFill>
                  <a:srgbClr val="CCCCCC"/>
                </a:solidFill>
              </a:rPr>
              <a:t> → discoveries </a:t>
            </a:r>
            <a:r>
              <a:rPr sz="1100" b="0" dirty="0" err="1">
                <a:solidFill>
                  <a:srgbClr val="CCCCCC"/>
                </a:solidFill>
              </a:rPr>
              <a:t>contínuos</a:t>
            </a:r>
            <a:r>
              <a:rPr sz="1100" b="0" dirty="0">
                <a:solidFill>
                  <a:srgbClr val="CCCCCC"/>
                </a:solidFill>
              </a:rPr>
              <a:t> (PD)
.</a:t>
            </a:r>
            <a:r>
              <a:rPr sz="1100" b="0" dirty="0" err="1">
                <a:solidFill>
                  <a:srgbClr val="CCCCCC"/>
                </a:solidFill>
              </a:rPr>
              <a:t>sdd</a:t>
            </a:r>
            <a:r>
              <a:rPr sz="1100" b="0" dirty="0">
                <a:solidFill>
                  <a:srgbClr val="CCCCCC"/>
                </a:solidFill>
              </a:rPr>
              <a:t>/                  </a:t>
            </a:r>
            <a:r>
              <a:rPr lang="pt-BR" sz="1100" b="0" dirty="0">
                <a:solidFill>
                  <a:srgbClr val="CCCCCC"/>
                </a:solidFill>
              </a:rPr>
              <a:t>               </a:t>
            </a:r>
            <a:r>
              <a:rPr sz="1100" b="0" dirty="0">
                <a:solidFill>
                  <a:srgbClr val="CCCCCC"/>
                </a:solidFill>
              </a:rPr>
              <a:t>→ CONSTITUTION, PLAYBOOK
.</a:t>
            </a:r>
            <a:r>
              <a:rPr sz="1100" b="0" dirty="0" err="1">
                <a:solidFill>
                  <a:srgbClr val="CCCCCC"/>
                </a:solidFill>
              </a:rPr>
              <a:t>sdd</a:t>
            </a:r>
            <a:r>
              <a:rPr sz="1100" b="0" dirty="0">
                <a:solidFill>
                  <a:srgbClr val="CCCCCC"/>
                </a:solidFill>
              </a:rPr>
              <a:t>/memory/          </a:t>
            </a:r>
            <a:r>
              <a:rPr lang="pt-BR" sz="1100" b="0" dirty="0">
                <a:solidFill>
                  <a:srgbClr val="CCCCCC"/>
                </a:solidFill>
              </a:rPr>
              <a:t>     </a:t>
            </a:r>
            <a:r>
              <a:rPr sz="1100" b="0" dirty="0">
                <a:solidFill>
                  <a:srgbClr val="CCCCCC"/>
                </a:solidFill>
              </a:rPr>
              <a:t> → PROJECT, DOMAIN, DECISIONS
.</a:t>
            </a:r>
            <a:r>
              <a:rPr sz="1100" b="0" dirty="0" err="1">
                <a:solidFill>
                  <a:srgbClr val="CCCCCC"/>
                </a:solidFill>
              </a:rPr>
              <a:t>sdd</a:t>
            </a:r>
            <a:r>
              <a:rPr sz="1100" b="0" dirty="0">
                <a:solidFill>
                  <a:srgbClr val="CCCCCC"/>
                </a:solidFill>
              </a:rPr>
              <a:t>/templates/        </a:t>
            </a:r>
            <a:r>
              <a:rPr lang="pt-BR" sz="1100" b="0" dirty="0">
                <a:solidFill>
                  <a:srgbClr val="CCCCCC"/>
                </a:solidFill>
              </a:rPr>
              <a:t>     </a:t>
            </a:r>
            <a:r>
              <a:rPr sz="1100" b="0" dirty="0">
                <a:solidFill>
                  <a:srgbClr val="CCCCCC"/>
                </a:solidFill>
              </a:rPr>
              <a:t>→ templates de </a:t>
            </a:r>
            <a:r>
              <a:rPr sz="1100" b="0" dirty="0" err="1">
                <a:solidFill>
                  <a:srgbClr val="CCCCCC"/>
                </a:solidFill>
              </a:rPr>
              <a:t>artefatos</a:t>
            </a:r>
            <a:r>
              <a:rPr sz="1100" b="0" dirty="0">
                <a:solidFill>
                  <a:srgbClr val="CCCCCC"/>
                </a:solidFill>
              </a:rPr>
              <a:t>
.</a:t>
            </a:r>
            <a:r>
              <a:rPr sz="1100" b="0" dirty="0" err="1">
                <a:solidFill>
                  <a:srgbClr val="CCCCCC"/>
                </a:solidFill>
              </a:rPr>
              <a:t>claude</a:t>
            </a:r>
            <a:r>
              <a:rPr sz="1100" b="0" dirty="0">
                <a:solidFill>
                  <a:srgbClr val="CCCCCC"/>
                </a:solidFill>
              </a:rPr>
              <a:t>/commands/      → slash commands
.</a:t>
            </a:r>
            <a:r>
              <a:rPr sz="1100" b="0" dirty="0" err="1">
                <a:solidFill>
                  <a:srgbClr val="CCCCCC"/>
                </a:solidFill>
              </a:rPr>
              <a:t>claude</a:t>
            </a:r>
            <a:r>
              <a:rPr sz="1100" b="0" dirty="0">
                <a:solidFill>
                  <a:srgbClr val="CCCCCC"/>
                </a:solidFill>
              </a:rPr>
              <a:t>/hooks/         </a:t>
            </a:r>
            <a:r>
              <a:rPr lang="pt-BR" sz="1100" b="0" dirty="0">
                <a:solidFill>
                  <a:srgbClr val="CCCCCC"/>
                </a:solidFill>
              </a:rPr>
              <a:t>      </a:t>
            </a:r>
            <a:r>
              <a:rPr sz="1100" b="0" dirty="0">
                <a:solidFill>
                  <a:srgbClr val="CCCCCC"/>
                </a:solidFill>
              </a:rPr>
              <a:t>→ </a:t>
            </a:r>
            <a:r>
              <a:rPr sz="1100" b="0" dirty="0" err="1">
                <a:solidFill>
                  <a:srgbClr val="CCCCCC"/>
                </a:solidFill>
              </a:rPr>
              <a:t>automação</a:t>
            </a:r>
            <a:r>
              <a:rPr sz="1100" b="0" dirty="0">
                <a:solidFill>
                  <a:srgbClr val="CCCCCC"/>
                </a:solidFill>
              </a:rPr>
              <a:t> de </a:t>
            </a:r>
            <a:r>
              <a:rPr sz="1100" b="0" dirty="0" err="1">
                <a:solidFill>
                  <a:srgbClr val="CCCCCC"/>
                </a:solidFill>
              </a:rPr>
              <a:t>processo</a:t>
            </a:r>
            <a:r>
              <a:rPr sz="1100" b="0" dirty="0">
                <a:solidFill>
                  <a:srgbClr val="CCCCCC"/>
                </a:solidFill>
              </a:rPr>
              <a:t>
.</a:t>
            </a:r>
            <a:r>
              <a:rPr sz="1100" b="0" dirty="0" err="1">
                <a:solidFill>
                  <a:srgbClr val="CCCCCC"/>
                </a:solidFill>
              </a:rPr>
              <a:t>claude</a:t>
            </a:r>
            <a:r>
              <a:rPr sz="1100" b="0" dirty="0">
                <a:solidFill>
                  <a:srgbClr val="CCCCCC"/>
                </a:solidFill>
              </a:rPr>
              <a:t>/</a:t>
            </a:r>
            <a:r>
              <a:rPr sz="1100" b="0" dirty="0" err="1">
                <a:solidFill>
                  <a:srgbClr val="CCCCCC"/>
                </a:solidFill>
              </a:rPr>
              <a:t>settings.json</a:t>
            </a:r>
            <a:r>
              <a:rPr sz="1100" b="0" dirty="0">
                <a:solidFill>
                  <a:srgbClr val="CCCCCC"/>
                </a:solidFill>
              </a:rPr>
              <a:t>  </a:t>
            </a:r>
            <a:r>
              <a:rPr lang="pt-BR" sz="1100" b="0" dirty="0">
                <a:solidFill>
                  <a:srgbClr val="CCCCCC"/>
                </a:solidFill>
              </a:rPr>
              <a:t>   </a:t>
            </a:r>
            <a:r>
              <a:rPr sz="1100" b="0" dirty="0">
                <a:solidFill>
                  <a:srgbClr val="CCCCCC"/>
                </a:solidFill>
              </a:rPr>
              <a:t>→ config </a:t>
            </a:r>
            <a:r>
              <a:rPr sz="1100" b="0" dirty="0" err="1">
                <a:solidFill>
                  <a:srgbClr val="CCCCCC"/>
                </a:solidFill>
              </a:rPr>
              <a:t>compartilhada</a:t>
            </a:r>
            <a:r>
              <a:rPr sz="1100" b="0" dirty="0">
                <a:solidFill>
                  <a:srgbClr val="CCCCCC"/>
                </a:solidFill>
              </a:rPr>
              <a:t>
.</a:t>
            </a:r>
            <a:r>
              <a:rPr sz="1100" b="0" dirty="0" err="1">
                <a:solidFill>
                  <a:srgbClr val="CCCCCC"/>
                </a:solidFill>
              </a:rPr>
              <a:t>github</a:t>
            </a:r>
            <a:r>
              <a:rPr sz="1100" b="0" dirty="0">
                <a:solidFill>
                  <a:srgbClr val="CCCCCC"/>
                </a:solidFill>
              </a:rPr>
              <a:t>/             </a:t>
            </a:r>
            <a:r>
              <a:rPr lang="pt-BR" sz="1100" b="0" dirty="0">
                <a:solidFill>
                  <a:srgbClr val="CCCCCC"/>
                </a:solidFill>
              </a:rPr>
              <a:t>            </a:t>
            </a:r>
            <a:r>
              <a:rPr sz="1100" b="0" dirty="0">
                <a:solidFill>
                  <a:srgbClr val="CCCCCC"/>
                </a:solidFill>
              </a:rPr>
              <a:t>  → Copilot instructions
specs/              </a:t>
            </a:r>
            <a:r>
              <a:rPr lang="pt-BR" sz="1100" b="0" dirty="0">
                <a:solidFill>
                  <a:srgbClr val="CCCCCC"/>
                </a:solidFill>
              </a:rPr>
              <a:t>             </a:t>
            </a:r>
            <a:r>
              <a:rPr sz="1100" b="0" dirty="0">
                <a:solidFill>
                  <a:srgbClr val="CCCCCC"/>
                </a:solidFill>
              </a:rPr>
              <a:t>   → stories + specs BDD
docs/</a:t>
            </a:r>
            <a:r>
              <a:rPr sz="1100" b="0" dirty="0" err="1">
                <a:solidFill>
                  <a:srgbClr val="CCCCCC"/>
                </a:solidFill>
              </a:rPr>
              <a:t>adr</a:t>
            </a:r>
            <a:r>
              <a:rPr sz="1100" b="0" dirty="0">
                <a:solidFill>
                  <a:srgbClr val="CCCCCC"/>
                </a:solidFill>
              </a:rPr>
              <a:t>/           </a:t>
            </a:r>
            <a:r>
              <a:rPr lang="pt-BR" sz="1100" b="0" dirty="0">
                <a:solidFill>
                  <a:srgbClr val="CCCCCC"/>
                </a:solidFill>
              </a:rPr>
              <a:t>          </a:t>
            </a:r>
            <a:r>
              <a:rPr sz="1100" b="0" dirty="0">
                <a:solidFill>
                  <a:srgbClr val="CCCCCC"/>
                </a:solidFill>
              </a:rPr>
              <a:t>   → </a:t>
            </a:r>
            <a:r>
              <a:rPr sz="1100" b="0" dirty="0" err="1">
                <a:solidFill>
                  <a:srgbClr val="CCCCCC"/>
                </a:solidFill>
              </a:rPr>
              <a:t>decisões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arquiteturais</a:t>
            </a:r>
            <a:r>
              <a:rPr sz="1100" b="0" dirty="0">
                <a:solidFill>
                  <a:srgbClr val="CCCCCC"/>
                </a:solidFill>
              </a:rPr>
              <a:t>
</a:t>
            </a:r>
            <a:r>
              <a:rPr sz="1100" b="0" dirty="0" err="1">
                <a:solidFill>
                  <a:srgbClr val="CCCCCC"/>
                </a:solidFill>
              </a:rPr>
              <a:t>sdd</a:t>
            </a:r>
            <a:r>
              <a:rPr sz="1100" b="0" dirty="0">
                <a:solidFill>
                  <a:srgbClr val="CCCCCC"/>
                </a:solidFill>
              </a:rPr>
              <a:t>                   </a:t>
            </a:r>
            <a:r>
              <a:rPr lang="pt-BR" sz="1100" b="0" dirty="0">
                <a:solidFill>
                  <a:srgbClr val="CCCCCC"/>
                </a:solidFill>
              </a:rPr>
              <a:t>               </a:t>
            </a:r>
            <a:r>
              <a:rPr sz="1100" b="0" dirty="0">
                <a:solidFill>
                  <a:srgbClr val="CCCCCC"/>
                </a:solidFill>
              </a:rPr>
              <a:t> → CLI do framework
</a:t>
            </a:r>
            <a:r>
              <a:rPr sz="1100" b="0" dirty="0" err="1">
                <a:solidFill>
                  <a:srgbClr val="CCCCCC"/>
                </a:solidFill>
              </a:rPr>
              <a:t>CLAUDE.md</a:t>
            </a:r>
            <a:r>
              <a:rPr sz="1100" b="0" dirty="0">
                <a:solidFill>
                  <a:srgbClr val="CCCCCC"/>
                </a:solidFill>
              </a:rPr>
              <a:t>             </a:t>
            </a:r>
            <a:r>
              <a:rPr lang="pt-BR" sz="1100" b="0" dirty="0">
                <a:solidFill>
                  <a:srgbClr val="CCCCCC"/>
                </a:solidFill>
              </a:rPr>
              <a:t>      </a:t>
            </a:r>
            <a:r>
              <a:rPr sz="1100" b="0" dirty="0">
                <a:solidFill>
                  <a:srgbClr val="CCCCCC"/>
                </a:solidFill>
              </a:rPr>
              <a:t> → </a:t>
            </a:r>
            <a:r>
              <a:rPr sz="1100" b="0" dirty="0" err="1">
                <a:solidFill>
                  <a:srgbClr val="CCCCCC"/>
                </a:solidFill>
              </a:rPr>
              <a:t>instruções</a:t>
            </a:r>
            <a:r>
              <a:rPr sz="1100" b="0" dirty="0">
                <a:solidFill>
                  <a:srgbClr val="CCCCCC"/>
                </a:solidFill>
              </a:rPr>
              <a:t> do </a:t>
            </a:r>
            <a:r>
              <a:rPr sz="1100" b="0" dirty="0" err="1">
                <a:solidFill>
                  <a:srgbClr val="CCCCCC"/>
                </a:solidFill>
              </a:rPr>
              <a:t>agente</a:t>
            </a:r>
            <a:endParaRPr sz="1100" b="0" dirty="0">
              <a:solidFill>
                <a:srgbClr val="CCCCC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37314" y="1262320"/>
            <a:ext cx="3755570" cy="3260000"/>
          </a:xfrm>
          <a:prstGeom prst="rect">
            <a:avLst/>
          </a:prstGeom>
          <a:solidFill>
            <a:srgbClr val="3A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34940" y="1353760"/>
            <a:ext cx="3435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8771"/>
                </a:solidFill>
              </a:rPr>
              <a:t>✗  .gitignore — local ou sensível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9782" y="1837233"/>
            <a:ext cx="34354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# Secrets e </a:t>
            </a:r>
            <a:r>
              <a:rPr sz="1100" b="0" dirty="0" err="1">
                <a:solidFill>
                  <a:srgbClr val="CCCCCC"/>
                </a:solidFill>
              </a:rPr>
              <a:t>ambiente</a:t>
            </a:r>
            <a:r>
              <a:rPr sz="1100" b="0" dirty="0">
                <a:solidFill>
                  <a:srgbClr val="CCCCCC"/>
                </a:solidFill>
              </a:rPr>
              <a:t>
.env
.env.*  (</a:t>
            </a:r>
            <a:r>
              <a:rPr sz="1100" b="0" dirty="0" err="1">
                <a:solidFill>
                  <a:srgbClr val="CCCCCC"/>
                </a:solidFill>
              </a:rPr>
              <a:t>exceto</a:t>
            </a:r>
            <a:r>
              <a:rPr sz="1100" b="0" dirty="0">
                <a:solidFill>
                  <a:srgbClr val="CCCCCC"/>
                </a:solidFill>
              </a:rPr>
              <a:t> .</a:t>
            </a:r>
            <a:r>
              <a:rPr sz="1100" b="0" dirty="0" err="1">
                <a:solidFill>
                  <a:srgbClr val="CCCCCC"/>
                </a:solidFill>
              </a:rPr>
              <a:t>env.example</a:t>
            </a:r>
            <a:r>
              <a:rPr sz="1100" b="0" dirty="0">
                <a:solidFill>
                  <a:srgbClr val="CCCCCC"/>
                </a:solidFill>
              </a:rPr>
              <a:t>)
# Claude Code — local do </a:t>
            </a:r>
            <a:r>
              <a:rPr sz="1100" b="0" dirty="0" err="1">
                <a:solidFill>
                  <a:srgbClr val="CCCCCC"/>
                </a:solidFill>
              </a:rPr>
              <a:t>usuário</a:t>
            </a:r>
            <a:r>
              <a:rPr sz="1100" b="0" dirty="0">
                <a:solidFill>
                  <a:srgbClr val="CCCCCC"/>
                </a:solidFill>
              </a:rPr>
              <a:t>
.</a:t>
            </a:r>
            <a:r>
              <a:rPr sz="1100" b="0" dirty="0" err="1">
                <a:solidFill>
                  <a:srgbClr val="CCCCCC"/>
                </a:solidFill>
              </a:rPr>
              <a:t>claude</a:t>
            </a:r>
            <a:r>
              <a:rPr sz="1100" b="0" dirty="0">
                <a:solidFill>
                  <a:srgbClr val="CCCCCC"/>
                </a:solidFill>
              </a:rPr>
              <a:t>/</a:t>
            </a:r>
            <a:r>
              <a:rPr sz="1100" b="0" dirty="0" err="1">
                <a:solidFill>
                  <a:srgbClr val="CCCCCC"/>
                </a:solidFill>
              </a:rPr>
              <a:t>settings.local.json</a:t>
            </a:r>
            <a:r>
              <a:rPr sz="1100" b="0" dirty="0">
                <a:solidFill>
                  <a:srgbClr val="CCCCCC"/>
                </a:solidFill>
              </a:rPr>
              <a:t>
# SDD Kit — </a:t>
            </a:r>
            <a:r>
              <a:rPr sz="1100" b="0" dirty="0" err="1">
                <a:solidFill>
                  <a:srgbClr val="CCCCCC"/>
                </a:solidFill>
              </a:rPr>
              <a:t>estado</a:t>
            </a:r>
            <a:r>
              <a:rPr sz="1100" b="0" dirty="0">
                <a:solidFill>
                  <a:srgbClr val="CCCCCC"/>
                </a:solidFill>
              </a:rPr>
              <a:t> </a:t>
            </a:r>
            <a:r>
              <a:rPr sz="1100" b="0" dirty="0" err="1">
                <a:solidFill>
                  <a:srgbClr val="CCCCCC"/>
                </a:solidFill>
              </a:rPr>
              <a:t>temporário</a:t>
            </a:r>
            <a:r>
              <a:rPr sz="1100" b="0" dirty="0">
                <a:solidFill>
                  <a:srgbClr val="CCCCCC"/>
                </a:solidFill>
              </a:rPr>
              <a:t>
.</a:t>
            </a:r>
            <a:r>
              <a:rPr sz="1100" b="0" dirty="0" err="1">
                <a:solidFill>
                  <a:srgbClr val="CCCCCC"/>
                </a:solidFill>
              </a:rPr>
              <a:t>sdd</a:t>
            </a:r>
            <a:r>
              <a:rPr sz="1100" b="0" dirty="0">
                <a:solidFill>
                  <a:srgbClr val="CCCCCC"/>
                </a:solidFill>
              </a:rPr>
              <a:t>/.pending-</a:t>
            </a:r>
            <a:r>
              <a:rPr lang="pt-BR" sz="1100" b="0" dirty="0" err="1">
                <a:solidFill>
                  <a:srgbClr val="CCCCCC"/>
                </a:solidFill>
              </a:rPr>
              <a:t>S</a:t>
            </a:r>
            <a:r>
              <a:rPr sz="1100" b="0" dirty="0" err="1">
                <a:solidFill>
                  <a:srgbClr val="CCCCCC"/>
                </a:solidFill>
              </a:rPr>
              <a:t>ync</a:t>
            </a:r>
            <a:endParaRPr lang="pt-BR" sz="1100" b="0" dirty="0">
              <a:solidFill>
                <a:srgbClr val="CCCCCC"/>
              </a:solidFill>
            </a:endParaRPr>
          </a:p>
          <a:p>
            <a:pPr algn="l"/>
            <a:r>
              <a:rPr lang="pt-BR" sz="1100" dirty="0">
                <a:solidFill>
                  <a:srgbClr val="CCCCCC"/>
                </a:solidFill>
              </a:rPr>
              <a:t>.</a:t>
            </a:r>
            <a:r>
              <a:rPr lang="pt-BR" sz="1100" dirty="0" err="1">
                <a:solidFill>
                  <a:srgbClr val="CCCCCC"/>
                </a:solidFill>
              </a:rPr>
              <a:t>sdd</a:t>
            </a:r>
            <a:r>
              <a:rPr lang="pt-BR" sz="1100" dirty="0">
                <a:solidFill>
                  <a:srgbClr val="CCCCCC"/>
                </a:solidFill>
              </a:rPr>
              <a:t>/</a:t>
            </a:r>
          </a:p>
          <a:p>
            <a:pPr algn="l"/>
            <a:r>
              <a:rPr lang="pt-BR" sz="1100" b="0" dirty="0">
                <a:solidFill>
                  <a:srgbClr val="CCCCCC"/>
                </a:solidFill>
              </a:rPr>
              <a:t>.</a:t>
            </a:r>
            <a:r>
              <a:rPr lang="pt-BR" sz="1100" b="0" dirty="0" err="1">
                <a:solidFill>
                  <a:srgbClr val="CCCCCC"/>
                </a:solidFill>
              </a:rPr>
              <a:t>claude</a:t>
            </a:r>
            <a:r>
              <a:rPr lang="pt-BR" sz="1100" b="0" dirty="0">
                <a:solidFill>
                  <a:srgbClr val="CCCCCC"/>
                </a:solidFill>
              </a:rPr>
              <a:t>/</a:t>
            </a:r>
            <a:r>
              <a:rPr sz="1100" b="0" dirty="0">
                <a:solidFill>
                  <a:srgbClr val="CCCCCC"/>
                </a:solidFill>
              </a:rPr>
              <a:t>
# Build e </a:t>
            </a:r>
            <a:r>
              <a:rPr sz="1100" b="0" dirty="0" err="1">
                <a:solidFill>
                  <a:srgbClr val="CCCCCC"/>
                </a:solidFill>
              </a:rPr>
              <a:t>dependências</a:t>
            </a:r>
            <a:r>
              <a:rPr sz="1100" b="0" dirty="0">
                <a:solidFill>
                  <a:srgbClr val="CCCCCC"/>
                </a:solidFill>
              </a:rPr>
              <a:t>
</a:t>
            </a:r>
            <a:r>
              <a:rPr sz="1100" b="0" dirty="0" err="1">
                <a:solidFill>
                  <a:srgbClr val="CCCCCC"/>
                </a:solidFill>
              </a:rPr>
              <a:t>node_modules</a:t>
            </a:r>
            <a:r>
              <a:rPr sz="1100" b="0" dirty="0">
                <a:solidFill>
                  <a:srgbClr val="CCCCCC"/>
                </a:solidFill>
              </a:rPr>
              <a:t>/  </a:t>
            </a:r>
            <a:r>
              <a:rPr sz="1100" b="0" dirty="0" err="1">
                <a:solidFill>
                  <a:srgbClr val="CCCCCC"/>
                </a:solidFill>
              </a:rPr>
              <a:t>dist</a:t>
            </a:r>
            <a:r>
              <a:rPr sz="1100" b="0" dirty="0">
                <a:solidFill>
                  <a:srgbClr val="CCCCCC"/>
                </a:solidFill>
              </a:rPr>
              <a:t>/  build/
__</a:t>
            </a:r>
            <a:r>
              <a:rPr sz="1100" b="0" dirty="0" err="1">
                <a:solidFill>
                  <a:srgbClr val="CCCCCC"/>
                </a:solidFill>
              </a:rPr>
              <a:t>pycache</a:t>
            </a:r>
            <a:r>
              <a:rPr sz="1100" b="0" dirty="0">
                <a:solidFill>
                  <a:srgbClr val="CCCCCC"/>
                </a:solidFill>
              </a:rPr>
              <a:t>__/  .</a:t>
            </a:r>
            <a:r>
              <a:rPr sz="1100" b="0" dirty="0" err="1">
                <a:solidFill>
                  <a:srgbClr val="CCCCCC"/>
                </a:solidFill>
              </a:rPr>
              <a:t>venv</a:t>
            </a:r>
            <a:r>
              <a:rPr sz="1100" b="0" dirty="0">
                <a:solidFill>
                  <a:srgbClr val="CCCCCC"/>
                </a:solidFill>
              </a:rPr>
              <a:t>/
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18000"/>
            <a:ext cx="7680960" cy="320040"/>
          </a:xfrm>
          <a:prstGeom prst="rect">
            <a:avLst/>
          </a:prstGeom>
          <a:solidFill>
            <a:srgbClr val="2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638000"/>
            <a:ext cx="74980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8771"/>
                </a:solidFill>
              </a:rPr>
              <a:t>O pre-commit hook bloqueia .env sendo commitado (A05) e secrets hardcoded (A02) — proteção automática.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por IDE — onde cada arquivo vive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.sdd/ é compartilhado. Cada IDE lê dele e aplica no seu formato.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600200"/>
            <a:ext cx="31089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01752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.sdd/ — core compartilhado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 · STACK · PLAYBOOK · memory/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flipH="1">
            <a:off x="1737361" y="2148840"/>
            <a:ext cx="1280159" cy="685800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0" y="2331720"/>
            <a:ext cx="0" cy="365760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126480" y="2148840"/>
            <a:ext cx="1097280" cy="548640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2560320" cy="164592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.cursor/rules/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sdd-kit.mdc  (sempre)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lightweight-mode.mdc  src/**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spec-files.mdc  specs/**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adr-files.mdc  docs/adr/**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834640"/>
            <a:ext cx="2560320" cy="164592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918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3200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+ commands/ + hooks/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474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CLAUDE.md  (sempre)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/feature  /analyze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/review  /sync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/onboard  /plan  /spec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2560320" cy="164592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2179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200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.github/instructions/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3474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copilot-instructions.md  (global)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onboarding.instructions.md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spec-files.instructions.md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implementation.instructions.md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regras de IDE apontam para .sdd/ — nunca duplicam conteúdo.</a:t>
            </a:r>
            <a:endParaRPr 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3474720" y="437083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</a:rPr>
              <a:t>• 4 hooks ativos  →  slide seguinte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</a:rPr>
              <a:t>Claude Code — mais do que regras passivas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392"/>
            <a:ext cx="7315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Cursor e Copilot têm instruções que o modelo lê. Claude Code tem hooks que executam.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411480"/>
          </a:xfrm>
          <a:prstGeom prst="rect">
            <a:avLst/>
          </a:prstGeom>
          <a:solidFill>
            <a:srgbClr val="EFF3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</a:rPr>
              <a:t>Cursor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256032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</a:rPr>
              <a:t>.cursor/rules/*.mdc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32888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</a:rPr>
              <a:t>alwaysApply / globs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16936"/>
            <a:ext cx="256032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— passivo 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92424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483864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— passivo 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67912"/>
            <a:ext cx="256032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— passivo 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463040"/>
            <a:ext cx="2560320" cy="411480"/>
          </a:xfrm>
          <a:prstGeom prst="rect">
            <a:avLst/>
          </a:prstGeom>
          <a:solidFill>
            <a:srgbClr val="EFF3F5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15087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</a:rPr>
              <a:t>GitHub Copilot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965960"/>
            <a:ext cx="256032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205740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</a:rPr>
              <a:t>.github/instructions/*.md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441448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2532888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</a:rPr>
              <a:t>applyTo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916936"/>
            <a:ext cx="256032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0" y="3008376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— passivo 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392424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0" y="3483864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— passivo 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867912"/>
            <a:ext cx="256032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0" y="3959352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— passivo 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463040"/>
            <a:ext cx="25603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79" y="15087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</a:rPr>
              <a:t>Claude 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965960"/>
            <a:ext cx="2560320" cy="438912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79" y="205740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</a:rPr>
              <a:t>.claude/commands/ + hooks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441448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79" y="2532888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</a:rPr>
              <a:t>UserPromptSubmit / Stop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916936"/>
            <a:ext cx="2560320" cy="438912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79" y="3008376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16A34A"/>
                </a:solidFill>
              </a:rPr>
              <a:t>context-bootstrap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392424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79" y="3483864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16A34A"/>
                </a:solidFill>
              </a:rPr>
              <a:t>process-guard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867912"/>
            <a:ext cx="2560320" cy="438912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79" y="3959352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16A34A"/>
                </a:solidFill>
              </a:rPr>
              <a:t>model-advisor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20299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25054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Trigger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29809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Memória auto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345643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Enforcement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39319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Economia tokens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</a:rPr>
              <a:t>A diferença: o hook é código que executa — não uma instrução que o modelo pode ignorar.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</a:rPr>
              <a:t>4 hooks — Claude Code como parceiro de processo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392"/>
            <a:ext cx="7315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Executam automaticamente em cada sessão. Sem configuração extra por projeto.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1417320" cy="228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08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UserPromptSubmit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4813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context-bootstrap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Injeta memória do projeto antes de cada comando SDD.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5087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Substitui a leitura manual dos arquivos .sdd/memory/. Claude sempre começa informado.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76809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313432"/>
            <a:ext cx="1417320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313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UserPromptSubmit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2860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</a:rPr>
              <a:t>process-guard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420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Bloqueia fluxo incorreto.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1343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/implement sem spec → cria .pending-sync. /review bloqueado até /sync ser executado.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26664"/>
            <a:ext cx="76809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118104"/>
            <a:ext cx="1417320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1181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UserPromptSubmit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0906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model-advisor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3467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Recomenda modelo ideal por tarefa.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11810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Opus + thinking para /init /onboard /analyze /feature /plan /spec. Sonnet para /implement /review /sync.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31336"/>
            <a:ext cx="76809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3922776"/>
            <a:ext cx="141732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9227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8953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session-healthcheck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1513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Auditoria silenciosa pós-resposta.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922776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Verifica (silencioso se ok): sync pendente · stories sem spec · ADRs em Proposed · fundação incompleta · discoveries sem decisão · .env desprotegido · deps vulneráveis · secret no commit · dead code.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LLM usar no SDD Kit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pelo tamanho da tarefa. Thinking mode tem custo — use quando vale.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468880" cy="155448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a dia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completo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 leve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/feature /spec /implement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77% · rápido · custo médio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600200"/>
            <a:ext cx="2468880" cy="155448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10896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1965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complexas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2128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/onboard /analyze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Agentes long-horizon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Decisões arquiteturais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72% · mais lento · custo alto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600200"/>
            <a:ext cx="2468880" cy="155448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7607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3.1 Pro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1965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grande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2128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Projetos legados grandes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Documentação extensa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Multimodal (PDF, video)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 · custo baixo · balanceado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3657600" cy="141732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thinking mode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/analyze — entender código complexo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89534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/onboard — arquitetura de projeto grande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087368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 — comparar opções arquiteturais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279392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difícil com múltiplas causas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471416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 BDD ambígua com muitos edge cases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3291840"/>
            <a:ext cx="4297680" cy="141732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389120" y="3383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Não use thinking mode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370332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simples: typo, rename, ajuste de estilo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89534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/implement de cenário BDD já especificado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08736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básico sem lógica de negócio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427939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Quando velocidade &gt; profundidade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47141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Modo leve no Cursor Agent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thinking para raciocínio estratégico. Para execução dentro da spec, o modelo base é suficiente.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via chat — sem CLI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3474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Claude Code (projeto novo):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6858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   → entrevista de fundação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detecta stack inline (lê package.json, lock files)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Linguagem:  typescript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Framework:  Next.js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 runner: Vitest, Playwright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.sdd/STACK.md + PROJECT-CONSTITUTION.md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Claude Code — Produto &amp; Design: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  "Sistema de avaliação de produtos"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specs/STORY-042/story.md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specs/STORY-042/spec.bdd.md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Aprovada → EQA: /implement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Status do projeto (hook Stop / /healthcheck):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SDD Kit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Projeto: meu-projeto  Stories: 3  ADRs: 1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modos de operação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tudo precisa do pipeline completo. Use o modo certo para o tamanho da tarefa.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657600" cy="2560320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completo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novas, fluxos complexos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32918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 → entende o código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852928"/>
            <a:ext cx="32918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2852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/feature → story + spec + TDD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36976"/>
            <a:ext cx="32918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3236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 → valida qualidade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621024"/>
            <a:ext cx="32918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51560" y="3621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/sync → mantém alinhado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005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/onboard /analyze /feature /sync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3657600" cy="2560320"/>
          </a:xfrm>
          <a:prstGeom prst="rect">
            <a:avLst/>
          </a:prstGeom>
          <a:solidFill>
            <a:srgbClr val="FFFBE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548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Modo leve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ajuste, refactor pequeno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468880"/>
            <a:ext cx="32918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07492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resolve direto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852928"/>
            <a:ext cx="32918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74920" y="2852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 STACK.md + PLAYBOOK.md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236976"/>
            <a:ext cx="32918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74920" y="3236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Commita com Conventional Commits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621024"/>
            <a:ext cx="329184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74920" y="3621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Sync: compare spec vs código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4005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Copilot Chat (sem slash commands)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se a tarefa precisa de 3+ arquivos novos, decisão arquitetural, ou fluxo novo → escale para pipeline completo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 Kit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Test → Code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novo:  copie sdd-kit/ → /init → /discover (PD) → /spec (PD) → /implement (EQA)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existente:  copie sdd-kit/ → /onboard → /analyze → /feature → /sync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4542</Words>
  <Application>Microsoft Macintosh PowerPoint</Application>
  <PresentationFormat>Apresentação na tela (16:9)</PresentationFormat>
  <Paragraphs>721</Paragraphs>
  <Slides>35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 Kit</dc:title>
  <dc:subject>PptxGenJS Presentation</dc:subject>
  <dc:creator>SDD Kit</dc:creator>
  <cp:lastModifiedBy>Jefferson Fabrício Mendonça de Albuquerque</cp:lastModifiedBy>
  <cp:revision>30</cp:revision>
  <dcterms:created xsi:type="dcterms:W3CDTF">2026-04-29T21:05:54Z</dcterms:created>
  <dcterms:modified xsi:type="dcterms:W3CDTF">2026-05-12T18:33:40Z</dcterms:modified>
</cp:coreProperties>
</file>